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53" r:id="rId1"/>
  </p:sldMasterIdLst>
  <p:notesMasterIdLst>
    <p:notesMasterId r:id="rId34"/>
  </p:notesMasterIdLst>
  <p:handoutMasterIdLst>
    <p:handoutMasterId r:id="rId35"/>
  </p:handoutMasterIdLst>
  <p:sldIdLst>
    <p:sldId id="256" r:id="rId2"/>
    <p:sldId id="298" r:id="rId3"/>
    <p:sldId id="299" r:id="rId4"/>
    <p:sldId id="397" r:id="rId5"/>
    <p:sldId id="398" r:id="rId6"/>
    <p:sldId id="380" r:id="rId7"/>
    <p:sldId id="381" r:id="rId8"/>
    <p:sldId id="399" r:id="rId9"/>
    <p:sldId id="400" r:id="rId10"/>
    <p:sldId id="402" r:id="rId11"/>
    <p:sldId id="403" r:id="rId12"/>
    <p:sldId id="386" r:id="rId13"/>
    <p:sldId id="404" r:id="rId14"/>
    <p:sldId id="411" r:id="rId15"/>
    <p:sldId id="412" r:id="rId16"/>
    <p:sldId id="414" r:id="rId17"/>
    <p:sldId id="424" r:id="rId18"/>
    <p:sldId id="420" r:id="rId19"/>
    <p:sldId id="413" r:id="rId20"/>
    <p:sldId id="415" r:id="rId21"/>
    <p:sldId id="416" r:id="rId22"/>
    <p:sldId id="417" r:id="rId23"/>
    <p:sldId id="418" r:id="rId24"/>
    <p:sldId id="419" r:id="rId25"/>
    <p:sldId id="421" r:id="rId26"/>
    <p:sldId id="422" r:id="rId27"/>
    <p:sldId id="406" r:id="rId28"/>
    <p:sldId id="407" r:id="rId29"/>
    <p:sldId id="408" r:id="rId30"/>
    <p:sldId id="409" r:id="rId31"/>
    <p:sldId id="410" r:id="rId32"/>
    <p:sldId id="423" r:id="rId33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6600"/>
    <a:srgbClr val="006600"/>
    <a:srgbClr val="000099"/>
    <a:srgbClr val="0099CC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2" autoAdjust="0"/>
    <p:restoredTop sz="89465" autoAdjust="0"/>
  </p:normalViewPr>
  <p:slideViewPr>
    <p:cSldViewPr>
      <p:cViewPr varScale="1">
        <p:scale>
          <a:sx n="137" d="100"/>
          <a:sy n="137" d="100"/>
        </p:scale>
        <p:origin x="1208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35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BE912E-AD22-4EF2-8D54-412922F0F4F0}" type="datetimeFigureOut">
              <a:rPr lang="zh-CN" altLang="en-US" smtClean="0"/>
              <a:t>2021/5/18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5FD4DC-77AF-4C3D-93AE-E79B60FCDB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732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5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907"/>
            <a:ext cx="5438140" cy="446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5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4A8DC87B-0AAB-4B0B-BB29-EBCF43D5AD5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74346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BA392A-976F-4015-AB96-E11D57363B36}" type="slidenum">
              <a:rPr lang="zh-CN" altLang="en-US" smtClean="0"/>
              <a:pPr/>
              <a:t>1</a:t>
            </a:fld>
            <a:endParaRPr lang="en-US" altLang="zh-CN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910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8DC87B-0AAB-4B0B-BB29-EBCF43D5AD59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4514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8DC87B-0AAB-4B0B-BB29-EBCF43D5AD59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5331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8DC87B-0AAB-4B0B-BB29-EBCF43D5AD59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3884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8DC87B-0AAB-4B0B-BB29-EBCF43D5AD59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3452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8DC87B-0AAB-4B0B-BB29-EBCF43D5AD59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2853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8DC87B-0AAB-4B0B-BB29-EBCF43D5AD59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6236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8DC87B-0AAB-4B0B-BB29-EBCF43D5AD59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3158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8DC87B-0AAB-4B0B-BB29-EBCF43D5AD59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9697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8DC87B-0AAB-4B0B-BB29-EBCF43D5AD59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4333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SzTx/>
            </a:pPr>
            <a:fld id="{06412C9A-8441-4307-8224-36E7974F102A}" type="slidenum">
              <a:rPr lang="zh-CN" altLang="en-US"/>
              <a:pPr>
                <a:spcBef>
                  <a:spcPct val="50000"/>
                </a:spcBef>
                <a:buSzTx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7128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优化问题：找出和最大且不超过</a:t>
            </a:r>
            <a:r>
              <a:rPr lang="en-US" altLang="zh-CN"/>
              <a:t>C</a:t>
            </a:r>
            <a:r>
              <a:rPr lang="zh-CN" altLang="en-US"/>
              <a:t>的子集。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判定问题：找出和正好等于</a:t>
            </a:r>
            <a:r>
              <a:rPr lang="en-US" altLang="zh-CN"/>
              <a:t>C</a:t>
            </a:r>
            <a:r>
              <a:rPr lang="zh-CN" altLang="en-US"/>
              <a:t>的子集。</a:t>
            </a:r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C289EC1-BC3A-4809-BDF3-DA0FB473DE38}" type="slidenum">
              <a:rPr lang="zh-CN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5579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/>
              <a:t>t</a:t>
            </a:r>
            <a:r>
              <a:rPr lang="zh-CN" altLang="en-US"/>
              <a:t>：执行时间；</a:t>
            </a:r>
            <a:r>
              <a:rPr lang="en-US" altLang="zh-CN"/>
              <a:t>d</a:t>
            </a:r>
            <a:r>
              <a:rPr lang="zh-CN" altLang="en-US"/>
              <a:t>：截至时间；</a:t>
            </a:r>
            <a:r>
              <a:rPr lang="en-US" altLang="zh-CN"/>
              <a:t>p</a:t>
            </a:r>
            <a:r>
              <a:rPr lang="zh-CN" altLang="en-US"/>
              <a:t>：惩罚；</a:t>
            </a:r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2AF7616-F34D-48DC-B258-8DC5C8BF0104}" type="slidenum">
              <a:rPr lang="zh-CN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29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5073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8DC87B-0AAB-4B0B-BB29-EBCF43D5AD59}" type="slidenum">
              <a:rPr lang="zh-CN" altLang="en-US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0483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>
              <a:latin typeface="Times New Roman" pitchFamily="18" charset="0"/>
              <a:cs typeface="Times New Roman" pitchFamily="18" charset="0"/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53034"/>
          </a:xfrm>
        </p:spPr>
        <p:txBody>
          <a:bodyPr vert="horz"/>
          <a:lstStyle>
            <a:lvl1pPr>
              <a:defRPr sz="3200">
                <a:latin typeface="Times New Roman" pitchFamily="18" charset="0"/>
                <a:cs typeface="Times New Roman" pitchFamily="18" charset="0"/>
              </a:defRPr>
            </a:lvl1pPr>
            <a:lvl2pPr>
              <a:defRPr sz="2800"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>
              <a:latin typeface="Times New Roman" pitchFamily="18" charset="0"/>
              <a:cs typeface="Times New Roman" pitchFamily="18" charset="0"/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Times New Roman" pitchFamily="18" charset="0"/>
              <a:cs typeface="Times New Roman" pitchFamily="18" charset="0"/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>
                <a:latin typeface="Times New Roman" pitchFamily="18" charset="0"/>
                <a:cs typeface="Times New Roman" pitchFamily="18" charset="0"/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>
                <a:latin typeface="Times New Roman" pitchFamily="18" charset="0"/>
                <a:cs typeface="Times New Roman" pitchFamily="18" charset="0"/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7500" y="722313"/>
            <a:ext cx="8637588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8613" y="1941513"/>
            <a:ext cx="4027487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08500" y="1941513"/>
            <a:ext cx="4029075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08500" y="4075113"/>
            <a:ext cx="4029075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3BD478-56E5-4825-B708-2AF6EE52C1F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1842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>
              <a:latin typeface="Times New Roman" pitchFamily="18" charset="0"/>
              <a:cs typeface="Times New Roman" pitchFamily="18" charset="0"/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4" r:id="rId1"/>
    <p:sldLayoutId id="2147484155" r:id="rId2"/>
    <p:sldLayoutId id="2147484156" r:id="rId3"/>
    <p:sldLayoutId id="2147484157" r:id="rId4"/>
    <p:sldLayoutId id="2147484158" r:id="rId5"/>
    <p:sldLayoutId id="2147484159" r:id="rId6"/>
    <p:sldLayoutId id="2147484160" r:id="rId7"/>
    <p:sldLayoutId id="2147484161" r:id="rId8"/>
    <p:sldLayoutId id="2147484162" r:id="rId9"/>
    <p:sldLayoutId id="2147484163" r:id="rId10"/>
    <p:sldLayoutId id="2147484164" r:id="rId11"/>
    <p:sldLayoutId id="2147484165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3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heng@nju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0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notesSlide" Target="../notesSlides/notesSlide13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0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43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45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200400"/>
            <a:ext cx="6400800" cy="34671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altLang="zh-CN" dirty="0"/>
          </a:p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altLang="zh-CN" dirty="0"/>
          </a:p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altLang="zh-CN" dirty="0"/>
          </a:p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altLang="zh-CN" dirty="0"/>
              <a:t>Sheng Zhang</a:t>
            </a:r>
          </a:p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altLang="zh-CN" dirty="0">
                <a:hlinkClick r:id="rId3"/>
              </a:rPr>
              <a:t>sheng@nju.edu.cn</a:t>
            </a:r>
            <a:endParaRPr lang="en-US" altLang="zh-CN" dirty="0"/>
          </a:p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zh-CN" altLang="en-US" dirty="0"/>
              <a:t>南京大学</a:t>
            </a:r>
            <a:endParaRPr lang="en-US" altLang="zh-CN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285875"/>
            <a:ext cx="7772400" cy="1938338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altLang="zh-CN" sz="6000" dirty="0">
                <a:ea typeface="华文隶书" pitchFamily="2" charset="-122"/>
              </a:rPr>
              <a:t>Tutorial 7  </a:t>
            </a:r>
            <a:br>
              <a:rPr lang="en-US" altLang="zh-CN" sz="6000" dirty="0">
                <a:ea typeface="华文隶书" pitchFamily="2" charset="-122"/>
              </a:rPr>
            </a:br>
            <a:r>
              <a:rPr lang="en-US" altLang="zh-CN" sz="6000" dirty="0">
                <a:ea typeface="华文隶书" pitchFamily="2" charset="-122"/>
              </a:rPr>
              <a:t>NP-Completeness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/>
          <a:lstStyle/>
          <a:p>
            <a:pPr algn="l" eaLnBrk="1" hangingPunct="1"/>
            <a:r>
              <a:rPr lang="en-US" altLang="zh-CN" sz="4400" dirty="0">
                <a:latin typeface="Times New Roman" pitchFamily="18" charset="0"/>
                <a:cs typeface="Times New Roman" pitchFamily="18" charset="0"/>
              </a:rPr>
              <a:t>Content</a:t>
            </a:r>
            <a:endParaRPr lang="zh-CN" altLang="en-US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1" name="内容占位符 2"/>
          <p:cNvSpPr>
            <a:spLocks noGrp="1"/>
          </p:cNvSpPr>
          <p:nvPr>
            <p:ph sz="quarter" idx="1"/>
          </p:nvPr>
        </p:nvSpPr>
        <p:spPr>
          <a:xfrm>
            <a:off x="457200" y="1417638"/>
            <a:ext cx="8229600" cy="46863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dirty="0"/>
              <a:t>P</a:t>
            </a:r>
            <a:r>
              <a:rPr lang="zh-CN" altLang="en-US" dirty="0"/>
              <a:t>、</a:t>
            </a:r>
            <a:r>
              <a:rPr lang="en-US" altLang="zh-CN" dirty="0"/>
              <a:t>NP</a:t>
            </a:r>
            <a:r>
              <a:rPr lang="zh-CN" altLang="en-US" dirty="0"/>
              <a:t>、</a:t>
            </a:r>
            <a:r>
              <a:rPr lang="en-US" altLang="zh-CN" dirty="0"/>
              <a:t>NP-complete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What makes a prolem “hard”?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Hard problems &amp; easy problems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Reductions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/>
          <a:lstStyle/>
          <a:p>
            <a:pPr algn="l" eaLnBrk="1" hangingPunct="1"/>
            <a:r>
              <a:rPr lang="en-US" altLang="zh-CN" sz="44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zh-CN" altLang="en-US" sz="4400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4400" dirty="0">
                <a:latin typeface="Times New Roman" pitchFamily="18" charset="0"/>
                <a:cs typeface="Times New Roman" pitchFamily="18" charset="0"/>
              </a:rPr>
              <a:t>NP</a:t>
            </a:r>
            <a:r>
              <a:rPr lang="zh-CN" altLang="en-US" sz="4400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4400" dirty="0">
                <a:latin typeface="Times New Roman" pitchFamily="18" charset="0"/>
                <a:cs typeface="Times New Roman" pitchFamily="18" charset="0"/>
              </a:rPr>
              <a:t>NP-Complete</a:t>
            </a:r>
            <a:endParaRPr lang="zh-CN" altLang="en-US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35" name="内容占位符 2"/>
          <p:cNvSpPr>
            <a:spLocks noGrp="1"/>
          </p:cNvSpPr>
          <p:nvPr>
            <p:ph sz="quarter" idx="1"/>
          </p:nvPr>
        </p:nvSpPr>
        <p:spPr>
          <a:xfrm>
            <a:off x="374904" y="1450113"/>
            <a:ext cx="8229600" cy="4686300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P: polynomial</a:t>
            </a:r>
          </a:p>
          <a:p>
            <a:pPr eaLnBrk="1" hangingPunct="1"/>
            <a:r>
              <a:rPr lang="en-US" altLang="zh-CN" dirty="0"/>
              <a:t>NP: nondeterministic polynomial</a:t>
            </a:r>
          </a:p>
          <a:p>
            <a:pPr eaLnBrk="1" hangingPunct="1"/>
            <a:r>
              <a:rPr lang="en-US" altLang="zh-CN" dirty="0"/>
              <a:t>NPC: NP-Complete</a:t>
            </a:r>
          </a:p>
          <a:p>
            <a:pPr marL="0" indent="0" eaLnBrk="1" hangingPunct="1">
              <a:buNone/>
            </a:pPr>
            <a:r>
              <a:rPr lang="en-US" altLang="zh-CN" dirty="0"/>
              <a:t> 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3212976"/>
            <a:ext cx="6153150" cy="32956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980728"/>
            <a:ext cx="762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463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2348880"/>
            <a:ext cx="7772400" cy="1143000"/>
          </a:xfrm>
        </p:spPr>
        <p:txBody>
          <a:bodyPr/>
          <a:lstStyle/>
          <a:p>
            <a:r>
              <a:rPr lang="en-US" altLang="zh-CN" dirty="0"/>
              <a:t>What makes a problem “hard”?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750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08" y="620688"/>
            <a:ext cx="8997696" cy="360878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25988" y="77723"/>
            <a:ext cx="52565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CNF: </a:t>
            </a:r>
            <a:r>
              <a:rPr lang="zh-CN" altLang="en-US" dirty="0"/>
              <a:t>合取范式，</a:t>
            </a:r>
            <a:r>
              <a:rPr lang="en-US" altLang="zh-CN" dirty="0"/>
              <a:t>and of or’s</a:t>
            </a:r>
          </a:p>
          <a:p>
            <a:r>
              <a:rPr lang="en-US" altLang="zh-CN" dirty="0"/>
              <a:t>DNF: </a:t>
            </a:r>
            <a:r>
              <a:rPr lang="zh-CN" altLang="en-US" dirty="0"/>
              <a:t>析取范式，</a:t>
            </a:r>
            <a:r>
              <a:rPr lang="en-US" altLang="zh-CN" dirty="0"/>
              <a:t>or of and’s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37956" y="4241943"/>
            <a:ext cx="4896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Two special cases: 3SAT vs. 2SAT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46304" y="4725144"/>
            <a:ext cx="8746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In fact, 2SAT is in P, while 3SAT is in NPC. What makes 3SAT hard?</a:t>
            </a:r>
          </a:p>
        </p:txBody>
      </p:sp>
      <p:sp>
        <p:nvSpPr>
          <p:cNvPr id="8" name="矩形 7"/>
          <p:cNvSpPr/>
          <p:nvPr/>
        </p:nvSpPr>
        <p:spPr>
          <a:xfrm>
            <a:off x="281032" y="153629"/>
            <a:ext cx="20873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3SAT </a:t>
            </a:r>
            <a:r>
              <a:rPr lang="en-US" altLang="zh-CN" dirty="0"/>
              <a:t>vs.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2SAT</a:t>
            </a:r>
          </a:p>
        </p:txBody>
      </p:sp>
    </p:spTree>
    <p:extLst>
      <p:ext uri="{BB962C8B-B14F-4D97-AF65-F5344CB8AC3E}">
        <p14:creationId xmlns:p14="http://schemas.microsoft.com/office/powerpoint/2010/main" val="2930130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561603"/>
            <a:ext cx="8858250" cy="22193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2744024"/>
            <a:ext cx="4896544" cy="23411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055" y="5085184"/>
            <a:ext cx="7181850" cy="132397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1032" y="153629"/>
            <a:ext cx="18419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TSP </a:t>
            </a:r>
            <a:r>
              <a:rPr lang="en-US" altLang="zh-CN" dirty="0"/>
              <a:t>vs.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MST</a:t>
            </a:r>
          </a:p>
        </p:txBody>
      </p:sp>
      <p:sp>
        <p:nvSpPr>
          <p:cNvPr id="7" name="矩形 6"/>
          <p:cNvSpPr/>
          <p:nvPr/>
        </p:nvSpPr>
        <p:spPr>
          <a:xfrm>
            <a:off x="4396042" y="3249118"/>
            <a:ext cx="46085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There’s no known polynomial-time algorithms for general TSP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186AA212-4801-C043-A885-C007726731D9}"/>
              </a:ext>
            </a:extLst>
          </p:cNvPr>
          <p:cNvCxnSpPr/>
          <p:nvPr/>
        </p:nvCxnSpPr>
        <p:spPr>
          <a:xfrm>
            <a:off x="1127055" y="6093296"/>
            <a:ext cx="71818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D0E87EEB-2821-8847-9883-866090A1AA6E}"/>
              </a:ext>
            </a:extLst>
          </p:cNvPr>
          <p:cNvCxnSpPr/>
          <p:nvPr/>
        </p:nvCxnSpPr>
        <p:spPr>
          <a:xfrm>
            <a:off x="1202021" y="5877272"/>
            <a:ext cx="71818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A054A622-989B-F84E-BDBC-4ABD785D899B}"/>
              </a:ext>
            </a:extLst>
          </p:cNvPr>
          <p:cNvCxnSpPr>
            <a:cxnSpLocks/>
          </p:cNvCxnSpPr>
          <p:nvPr/>
        </p:nvCxnSpPr>
        <p:spPr>
          <a:xfrm>
            <a:off x="1127055" y="6309320"/>
            <a:ext cx="222080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701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81032" y="153629"/>
            <a:ext cx="39356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Longest Path </a:t>
            </a:r>
            <a:r>
              <a:rPr lang="en-US" altLang="zh-CN" dirty="0"/>
              <a:t>vs.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Shortest Path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90" y="752873"/>
            <a:ext cx="8962914" cy="238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211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69" y="620688"/>
            <a:ext cx="3619500" cy="571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76" y="260648"/>
            <a:ext cx="4381500" cy="31146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4" y="3375323"/>
            <a:ext cx="8816980" cy="208823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1032" y="153629"/>
            <a:ext cx="26981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3D </a:t>
            </a:r>
            <a:r>
              <a:rPr lang="en-US" altLang="zh-CN" dirty="0"/>
              <a:t>vs.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2D Matching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3D7DF3BA-EE83-C548-8E47-9A8668851274}"/>
              </a:ext>
            </a:extLst>
          </p:cNvPr>
          <p:cNvCxnSpPr>
            <a:cxnSpLocks/>
          </p:cNvCxnSpPr>
          <p:nvPr/>
        </p:nvCxnSpPr>
        <p:spPr>
          <a:xfrm>
            <a:off x="146304" y="4149080"/>
            <a:ext cx="118533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CDB34294-108F-3B46-95FC-1D303DE566CE}"/>
              </a:ext>
            </a:extLst>
          </p:cNvPr>
          <p:cNvCxnSpPr>
            <a:cxnSpLocks/>
          </p:cNvCxnSpPr>
          <p:nvPr/>
        </p:nvCxnSpPr>
        <p:spPr>
          <a:xfrm flipH="1">
            <a:off x="219516" y="2585378"/>
            <a:ext cx="21650" cy="1563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748C877-054D-D14A-8609-DECAA22F6513}"/>
              </a:ext>
            </a:extLst>
          </p:cNvPr>
          <p:cNvSpPr txBox="1"/>
          <p:nvPr/>
        </p:nvSpPr>
        <p:spPr>
          <a:xfrm>
            <a:off x="146304" y="2132856"/>
            <a:ext cx="969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DPV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2240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281032" y="153629"/>
            <a:ext cx="61510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Hamilton Cycle (Rudrata Cycle) </a:t>
            </a:r>
            <a:r>
              <a:rPr lang="en-US" altLang="zh-CN" dirty="0"/>
              <a:t>vs.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Euler Cycle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1502965"/>
            <a:ext cx="3144238" cy="297447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746522"/>
            <a:ext cx="4987490" cy="373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471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281032" y="153629"/>
            <a:ext cx="35830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Balanced </a:t>
            </a:r>
            <a:r>
              <a:rPr lang="en-US" altLang="zh-CN" dirty="0"/>
              <a:t>vs.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Minimum Cut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692696"/>
            <a:ext cx="8865671" cy="76428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688" y="1700808"/>
            <a:ext cx="5307881" cy="23708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43" y="4332926"/>
            <a:ext cx="8867232" cy="72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967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412776"/>
            <a:ext cx="8089057" cy="36004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843808" y="764704"/>
            <a:ext cx="43813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Hard Problems </a:t>
            </a:r>
            <a:r>
              <a:rPr lang="en-US" altLang="zh-CN" dirty="0"/>
              <a:t>vs.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70C0"/>
                </a:solidFill>
              </a:rPr>
              <a:t>Easy Problems</a:t>
            </a:r>
          </a:p>
        </p:txBody>
      </p:sp>
    </p:spTree>
    <p:extLst>
      <p:ext uri="{BB962C8B-B14F-4D97-AF65-F5344CB8AC3E}">
        <p14:creationId xmlns:p14="http://schemas.microsoft.com/office/powerpoint/2010/main" val="2036096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392850" y="127065"/>
            <a:ext cx="7772400" cy="798551"/>
          </a:xfrm>
        </p:spPr>
        <p:txBody>
          <a:bodyPr/>
          <a:lstStyle/>
          <a:p>
            <a:pPr eaLnBrk="1" hangingPunct="1"/>
            <a:r>
              <a:rPr lang="en-US" altLang="zh-CN" dirty="0"/>
              <a:t>Polynomial Reduction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8362" y="857212"/>
            <a:ext cx="8613775" cy="163611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Let </a:t>
            </a:r>
            <a:r>
              <a:rPr lang="en-US" altLang="zh-CN" sz="2400" i="1" dirty="0"/>
              <a:t>T</a:t>
            </a:r>
            <a:r>
              <a:rPr lang="en-US" altLang="zh-CN" sz="2400" dirty="0"/>
              <a:t> be a function from the input set for a decision problem </a:t>
            </a:r>
            <a:r>
              <a:rPr lang="en-US" altLang="zh-CN" sz="2400" i="1" dirty="0"/>
              <a:t>P</a:t>
            </a:r>
            <a:r>
              <a:rPr lang="en-US" altLang="zh-CN" sz="2400" dirty="0"/>
              <a:t> into the input set for </a:t>
            </a:r>
            <a:r>
              <a:rPr lang="en-US" altLang="zh-CN" sz="2400" i="1" dirty="0"/>
              <a:t>Q</a:t>
            </a:r>
            <a:r>
              <a:rPr lang="en-US" altLang="zh-CN" sz="2400" dirty="0"/>
              <a:t>. </a:t>
            </a:r>
            <a:r>
              <a:rPr lang="en-US" altLang="zh-CN" sz="2400" i="1" dirty="0"/>
              <a:t>T</a:t>
            </a:r>
            <a:r>
              <a:rPr lang="en-US" altLang="zh-CN" sz="2400" dirty="0"/>
              <a:t> is a polynomial reduction from </a:t>
            </a:r>
            <a:r>
              <a:rPr lang="en-US" altLang="zh-CN" sz="2400" i="1" dirty="0"/>
              <a:t>P</a:t>
            </a:r>
            <a:r>
              <a:rPr lang="en-US" altLang="zh-CN" sz="2400" dirty="0"/>
              <a:t> to </a:t>
            </a:r>
            <a:r>
              <a:rPr lang="en-US" altLang="zh-CN" sz="2400" i="1" dirty="0"/>
              <a:t>Q</a:t>
            </a:r>
            <a:r>
              <a:rPr lang="en-US" altLang="zh-CN" sz="2400" dirty="0"/>
              <a:t> if: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i="1" dirty="0"/>
              <a:t>T</a:t>
            </a:r>
            <a:r>
              <a:rPr lang="en-US" altLang="zh-CN" sz="2000" dirty="0"/>
              <a:t> can be computed in polynomial bounded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x</a:t>
            </a:r>
            <a:r>
              <a:rPr lang="en-US" altLang="zh-CN" sz="2000" i="1" dirty="0"/>
              <a:t> </a:t>
            </a:r>
            <a:r>
              <a:rPr lang="en-US" altLang="zh-CN" sz="2000" dirty="0"/>
              <a:t>is a </a:t>
            </a:r>
            <a:r>
              <a:rPr lang="en-US" altLang="zh-CN" sz="2000" i="1" dirty="0"/>
              <a:t>yes</a:t>
            </a:r>
            <a:r>
              <a:rPr lang="en-US" altLang="zh-CN" sz="2000" dirty="0"/>
              <a:t> input for </a:t>
            </a:r>
            <a:r>
              <a:rPr lang="en-US" altLang="zh-CN" sz="2000" i="1" dirty="0"/>
              <a:t>P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 </a:t>
            </a:r>
            <a:r>
              <a:rPr lang="en-US" altLang="zh-CN" sz="2000" i="1" dirty="0">
                <a:sym typeface="Symbol" panose="05050102010706020507" pitchFamily="18" charset="2"/>
              </a:rPr>
              <a:t>T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sym typeface="Symbol" panose="05050102010706020507" pitchFamily="18" charset="2"/>
              </a:rPr>
              <a:t>x</a:t>
            </a:r>
            <a:r>
              <a:rPr lang="en-US" altLang="zh-CN" sz="2000" dirty="0">
                <a:sym typeface="Symbol" panose="05050102010706020507" pitchFamily="18" charset="2"/>
              </a:rPr>
              <a:t>) is a </a:t>
            </a:r>
            <a:r>
              <a:rPr lang="en-US" altLang="zh-CN" sz="2000" i="1" dirty="0">
                <a:sym typeface="Symbol" panose="05050102010706020507" pitchFamily="18" charset="2"/>
              </a:rPr>
              <a:t>yes</a:t>
            </a:r>
            <a:r>
              <a:rPr lang="en-US" altLang="zh-CN" sz="2000" dirty="0">
                <a:sym typeface="Symbol" panose="05050102010706020507" pitchFamily="18" charset="2"/>
              </a:rPr>
              <a:t> input for </a:t>
            </a:r>
            <a:r>
              <a:rPr lang="en-US" altLang="zh-CN" sz="2000" i="1" dirty="0">
                <a:sym typeface="Symbol" panose="05050102010706020507" pitchFamily="18" charset="2"/>
              </a:rPr>
              <a:t>Q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x</a:t>
            </a:r>
            <a:r>
              <a:rPr lang="en-US" altLang="zh-CN" sz="2000" i="1" dirty="0"/>
              <a:t> </a:t>
            </a:r>
            <a:r>
              <a:rPr lang="en-US" altLang="zh-CN" sz="2000" dirty="0"/>
              <a:t>is a </a:t>
            </a:r>
            <a:r>
              <a:rPr lang="en-US" altLang="zh-CN" sz="2000" i="1" dirty="0"/>
              <a:t>no</a:t>
            </a:r>
            <a:r>
              <a:rPr lang="en-US" altLang="zh-CN" sz="2000" dirty="0"/>
              <a:t> input for </a:t>
            </a:r>
            <a:r>
              <a:rPr lang="en-US" altLang="zh-CN" sz="2000" i="1" dirty="0"/>
              <a:t>P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 </a:t>
            </a:r>
            <a:r>
              <a:rPr lang="en-US" altLang="zh-CN" sz="2000" i="1" dirty="0">
                <a:sym typeface="Symbol" panose="05050102010706020507" pitchFamily="18" charset="2"/>
              </a:rPr>
              <a:t>T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sym typeface="Symbol" panose="05050102010706020507" pitchFamily="18" charset="2"/>
              </a:rPr>
              <a:t>x</a:t>
            </a:r>
            <a:r>
              <a:rPr lang="en-US" altLang="zh-CN" sz="2000" dirty="0">
                <a:sym typeface="Symbol" panose="05050102010706020507" pitchFamily="18" charset="2"/>
              </a:rPr>
              <a:t>) is a </a:t>
            </a:r>
            <a:r>
              <a:rPr lang="en-US" altLang="zh-CN" sz="2000" i="1" dirty="0">
                <a:sym typeface="Symbol" panose="05050102010706020507" pitchFamily="18" charset="2"/>
              </a:rPr>
              <a:t>no</a:t>
            </a:r>
            <a:r>
              <a:rPr lang="en-US" altLang="zh-CN" sz="2000" dirty="0">
                <a:sym typeface="Symbol" panose="05050102010706020507" pitchFamily="18" charset="2"/>
              </a:rPr>
              <a:t> input for </a:t>
            </a:r>
            <a:r>
              <a:rPr lang="en-US" altLang="zh-CN" sz="2000" i="1" dirty="0">
                <a:sym typeface="Symbol" panose="05050102010706020507" pitchFamily="18" charset="2"/>
              </a:rPr>
              <a:t>Q</a:t>
            </a:r>
            <a:endParaRPr lang="en-US" altLang="zh-CN" sz="2000" dirty="0"/>
          </a:p>
        </p:txBody>
      </p:sp>
      <p:sp>
        <p:nvSpPr>
          <p:cNvPr id="7" name="Rectangle 17"/>
          <p:cNvSpPr>
            <a:spLocks noChangeArrowheads="1"/>
          </p:cNvSpPr>
          <p:nvPr/>
        </p:nvSpPr>
        <p:spPr bwMode="auto">
          <a:xfrm>
            <a:off x="1875401" y="2700064"/>
            <a:ext cx="4876800" cy="16002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SzPct val="100000"/>
              <a:buFont typeface="Wingdings" panose="05000000000000000000" pitchFamily="2" charset="2"/>
              <a:buNone/>
            </a:pPr>
            <a:endParaRPr lang="zh-CN" altLang="en-US" sz="2400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56401" y="3157264"/>
            <a:ext cx="914400" cy="6096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SzPct val="100000"/>
              <a:buFont typeface="Wingdings" panose="05000000000000000000" pitchFamily="2" charset="2"/>
              <a:buNone/>
            </a:pPr>
            <a:endParaRPr lang="zh-CN" altLang="en-US" sz="240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390001" y="3157264"/>
            <a:ext cx="2057400" cy="6096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SzPct val="100000"/>
              <a:buFont typeface="Wingdings" panose="05000000000000000000" pitchFamily="2" charset="2"/>
              <a:buNone/>
            </a:pPr>
            <a:endParaRPr lang="zh-CN" altLang="en-US" sz="2400"/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3170801" y="3462064"/>
            <a:ext cx="1219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2485001" y="3233464"/>
            <a:ext cx="45720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b="1" i="1"/>
              <a:t>T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3170801" y="3081064"/>
            <a:ext cx="106680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b="1" i="1">
                <a:solidFill>
                  <a:srgbClr val="FF0000"/>
                </a:solidFill>
              </a:rPr>
              <a:t>T</a:t>
            </a:r>
            <a:r>
              <a:rPr lang="en-US" altLang="zh-CN" sz="2400" b="1">
                <a:solidFill>
                  <a:srgbClr val="FF0000"/>
                </a:solidFill>
              </a:rPr>
              <a:t>(</a:t>
            </a:r>
            <a:r>
              <a:rPr lang="en-US" altLang="zh-CN" sz="2400" b="1" i="1">
                <a:solidFill>
                  <a:srgbClr val="FF0000"/>
                </a:solidFill>
              </a:rPr>
              <a:t>x</a:t>
            </a:r>
            <a:r>
              <a:rPr lang="en-US" altLang="zh-CN" sz="2400" b="1">
                <a:solidFill>
                  <a:srgbClr val="FF0000"/>
                </a:solidFill>
              </a:rPr>
              <a:t>)</a:t>
            </a:r>
            <a:endParaRPr lang="en-US" altLang="zh-CN" sz="2400" b="1" i="1">
              <a:solidFill>
                <a:srgbClr val="FF0000"/>
              </a:solidFill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3247001" y="3462064"/>
            <a:ext cx="1066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/>
              <a:t>an input for </a:t>
            </a:r>
            <a:r>
              <a:rPr lang="en-US" altLang="zh-CN" sz="2000" i="1"/>
              <a:t>Q</a:t>
            </a:r>
            <a:endParaRPr lang="en-US" altLang="zh-CN" sz="2000"/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4390001" y="3309664"/>
            <a:ext cx="205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000"/>
              <a:t>Algorithm for </a:t>
            </a:r>
            <a:r>
              <a:rPr lang="en-US" altLang="zh-CN" sz="2000" b="1" i="1"/>
              <a:t>Q</a:t>
            </a: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6447401" y="3462064"/>
            <a:ext cx="1371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6676001" y="3385864"/>
            <a:ext cx="19812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i="1"/>
              <a:t>yes</a:t>
            </a:r>
            <a:r>
              <a:rPr lang="en-US" altLang="zh-CN" sz="2400"/>
              <a:t> or </a:t>
            </a:r>
            <a:r>
              <a:rPr lang="en-US" altLang="zh-CN" sz="2400" i="1"/>
              <a:t>no</a:t>
            </a:r>
            <a:endParaRPr lang="en-US" altLang="zh-CN" sz="2400"/>
          </a:p>
          <a:p>
            <a:pPr algn="ctr" eaLnBrk="1" hangingPunct="1">
              <a:lnSpc>
                <a:spcPct val="70000"/>
              </a:lnSpc>
              <a:spcBef>
                <a:spcPct val="0"/>
              </a:spcBef>
              <a:buClr>
                <a:schemeClr val="bg1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/>
              <a:t>answer</a:t>
            </a:r>
            <a:endParaRPr lang="en-US" altLang="zh-CN" sz="2400" i="1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1418201" y="3462064"/>
            <a:ext cx="838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8" name="Text Box 15"/>
          <p:cNvSpPr txBox="1">
            <a:spLocks noChangeArrowheads="1"/>
          </p:cNvSpPr>
          <p:nvPr/>
        </p:nvSpPr>
        <p:spPr bwMode="auto">
          <a:xfrm>
            <a:off x="1037201" y="3233464"/>
            <a:ext cx="38100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 i="1"/>
              <a:t>x</a:t>
            </a: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580001" y="3690664"/>
            <a:ext cx="1371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sz="2000"/>
              <a:t>(</a:t>
            </a:r>
            <a:r>
              <a:rPr lang="en-US" altLang="zh-CN" sz="2000"/>
              <a:t>an input for </a:t>
            </a:r>
            <a:r>
              <a:rPr lang="en-US" altLang="zh-CN" sz="2000" b="1" i="1"/>
              <a:t>P </a:t>
            </a:r>
            <a:r>
              <a:rPr lang="en-US" altLang="zh-CN" sz="2000"/>
              <a:t>)</a:t>
            </a:r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2713601" y="4376464"/>
            <a:ext cx="320040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SzPct val="100000"/>
              <a:buFont typeface="Wingdings" panose="05000000000000000000" pitchFamily="2" charset="2"/>
              <a:buNone/>
            </a:pPr>
            <a:r>
              <a:rPr lang="en-US" altLang="zh-CN" sz="2400"/>
              <a:t>Algorithm for </a:t>
            </a:r>
            <a:r>
              <a:rPr lang="en-US" altLang="zh-CN" sz="2400" b="1" i="1"/>
              <a:t>P</a:t>
            </a:r>
            <a:endParaRPr lang="en-US" altLang="zh-CN" sz="2400"/>
          </a:p>
        </p:txBody>
      </p:sp>
      <p:sp>
        <p:nvSpPr>
          <p:cNvPr id="21" name="灯片编号占位符 1">
            <a:extLst>
              <a:ext uri="{FF2B5EF4-FFF2-40B4-BE49-F238E27FC236}">
                <a16:creationId xmlns:a16="http://schemas.microsoft.com/office/drawing/2014/main" id="{28A734DF-2D2F-0443-8D55-282208860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</p:spPr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8852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76" y="644711"/>
            <a:ext cx="8890192" cy="1730182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81032" y="153629"/>
            <a:ext cx="52323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Hamiltonian Path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≤</a:t>
            </a:r>
            <a:r>
              <a:rPr lang="en-US" altLang="zh-CN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 Hamiltonian Cycle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endParaRPr lang="en-US" altLang="zh-CN" dirty="0">
              <a:solidFill>
                <a:srgbClr val="0070C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54" y="3429000"/>
            <a:ext cx="8760436" cy="236307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16154" y="3013511"/>
            <a:ext cx="3496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</a:rPr>
              <a:t>The Polynomial Reduction</a:t>
            </a:r>
          </a:p>
        </p:txBody>
      </p:sp>
    </p:spTree>
    <p:extLst>
      <p:ext uri="{BB962C8B-B14F-4D97-AF65-F5344CB8AC3E}">
        <p14:creationId xmlns:p14="http://schemas.microsoft.com/office/powerpoint/2010/main" val="15281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281032" y="153629"/>
            <a:ext cx="52323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Hamiltonian Path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≤</a:t>
            </a:r>
            <a:r>
              <a:rPr lang="en-US" altLang="zh-CN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 Hamiltonian Cycle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endParaRPr lang="en-US" altLang="zh-CN" dirty="0">
              <a:solidFill>
                <a:srgbClr val="0070C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28" y="2492896"/>
            <a:ext cx="8530152" cy="142918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4091610"/>
            <a:ext cx="8558571" cy="194915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616" y="590995"/>
            <a:ext cx="7267575" cy="172402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5163FA6-2AC6-A644-A3B3-3210E33284CF}"/>
              </a:ext>
            </a:extLst>
          </p:cNvPr>
          <p:cNvSpPr txBox="1"/>
          <p:nvPr/>
        </p:nvSpPr>
        <p:spPr>
          <a:xfrm>
            <a:off x="4392088" y="2084187"/>
            <a:ext cx="4464496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dirty="0"/>
              <a:t>不添加</a:t>
            </a:r>
            <a:r>
              <a:rPr kumimoji="1" lang="en-US" altLang="zh-CN" dirty="0"/>
              <a:t>x</a:t>
            </a:r>
            <a:r>
              <a:rPr lang="zh-CN" altLang="en-US" dirty="0"/>
              <a:t>，直接连接</a:t>
            </a:r>
            <a:r>
              <a:rPr lang="en-US" altLang="zh-CN" dirty="0"/>
              <a:t>s</a:t>
            </a:r>
            <a:r>
              <a:rPr lang="zh-CN" altLang="en-US" dirty="0"/>
              <a:t>和</a:t>
            </a:r>
            <a:r>
              <a:rPr lang="en-US" altLang="zh-CN" dirty="0"/>
              <a:t>t</a:t>
            </a:r>
            <a:r>
              <a:rPr lang="zh-CN" altLang="en-US" dirty="0"/>
              <a:t>可以吗？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72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281032" y="153629"/>
            <a:ext cx="42282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Independent Set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≤</a:t>
            </a:r>
            <a:r>
              <a:rPr lang="en-US" altLang="zh-CN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 Vertex Cover</a:t>
            </a:r>
            <a:endParaRPr lang="en-US" altLang="zh-CN" dirty="0">
              <a:solidFill>
                <a:srgbClr val="0070C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1032" y="632171"/>
            <a:ext cx="7920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Independent Set</a:t>
            </a:r>
            <a:r>
              <a:rPr lang="en-US" altLang="zh-CN" dirty="0"/>
              <a:t>: given a graph and an integer g, and the aim is to find g vertices that are independent, that is, no two of which have an edge between them.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971600" y="5517232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Vertex Cover</a:t>
            </a:r>
            <a:r>
              <a:rPr lang="en-US" altLang="zh-CN" dirty="0"/>
              <a:t>: given a graph and an integer k, and the aim is to find k vertices that cover all edges of the graph. 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0D3351B-8A37-3C45-AD31-C12DF5821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4" y="1916832"/>
            <a:ext cx="2794000" cy="2794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CD90A12-1D3C-EE4C-B46C-53DFA5AA5390}"/>
              </a:ext>
            </a:extLst>
          </p:cNvPr>
          <p:cNvSpPr/>
          <p:nvPr/>
        </p:nvSpPr>
        <p:spPr>
          <a:xfrm>
            <a:off x="374904" y="4689933"/>
            <a:ext cx="39063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The nine blue vertices form a maximum independent set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3D25340-6316-7F47-9CDB-B369A40A37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104" y="2177727"/>
            <a:ext cx="5362287" cy="253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486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281032" y="153629"/>
            <a:ext cx="42282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Independent Set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≤</a:t>
            </a:r>
            <a:r>
              <a:rPr lang="en-US" altLang="zh-CN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 Vertex Cover</a:t>
            </a:r>
            <a:endParaRPr lang="en-US" altLang="zh-CN" dirty="0">
              <a:solidFill>
                <a:srgbClr val="0070C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3967813"/>
            <a:ext cx="8860068" cy="223332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81032" y="632171"/>
            <a:ext cx="7920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Independent Set</a:t>
            </a:r>
            <a:r>
              <a:rPr lang="en-US" altLang="zh-CN" dirty="0"/>
              <a:t>: given a graph and an integer g, and the aim is to find g vertices that are independent, that is, no two of which have an edge between them.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81032" y="1865474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Vertex Cover</a:t>
            </a:r>
            <a:r>
              <a:rPr lang="en-US" altLang="zh-CN" dirty="0"/>
              <a:t>: given a graph and an integer k, and the aim is to find k vertices that cover all edges of the graph. 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46304" y="3573016"/>
            <a:ext cx="3496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</a:rPr>
              <a:t>The Polynomial Reduction</a:t>
            </a:r>
          </a:p>
        </p:txBody>
      </p:sp>
    </p:spTree>
    <p:extLst>
      <p:ext uri="{BB962C8B-B14F-4D97-AF65-F5344CB8AC3E}">
        <p14:creationId xmlns:p14="http://schemas.microsoft.com/office/powerpoint/2010/main" val="397328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281032" y="153629"/>
            <a:ext cx="34215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Independent Set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≤</a:t>
            </a:r>
            <a:r>
              <a:rPr lang="en-US" altLang="zh-CN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 Clique</a:t>
            </a:r>
            <a:endParaRPr lang="en-US" altLang="zh-CN" dirty="0">
              <a:solidFill>
                <a:srgbClr val="0070C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637996"/>
            <a:ext cx="8780076" cy="209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81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281032" y="153629"/>
            <a:ext cx="32984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3SAT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≤</a:t>
            </a:r>
            <a:r>
              <a:rPr lang="en-US" altLang="zh-CN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 Independent Set</a:t>
            </a:r>
            <a:endParaRPr lang="en-US" altLang="zh-CN" dirty="0">
              <a:solidFill>
                <a:srgbClr val="0070C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6111" y="3429000"/>
            <a:ext cx="70647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</a:rPr>
              <a:t>What is the relationship of Independent Set and Clique?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15294"/>
            <a:ext cx="8895409" cy="166157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06111" y="4134842"/>
            <a:ext cx="63630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</a:rPr>
              <a:t>Do you remember how to reduce 3SAT to Clique?</a:t>
            </a:r>
          </a:p>
        </p:txBody>
      </p:sp>
    </p:spTree>
    <p:extLst>
      <p:ext uri="{BB962C8B-B14F-4D97-AF65-F5344CB8AC3E}">
        <p14:creationId xmlns:p14="http://schemas.microsoft.com/office/powerpoint/2010/main" val="226985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CNF-SAT to Clique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8613" y="1941513"/>
            <a:ext cx="8434387" cy="4114800"/>
          </a:xfrm>
        </p:spPr>
        <p:txBody>
          <a:bodyPr>
            <a:normAutofit lnSpcReduction="10000"/>
          </a:bodyPr>
          <a:lstStyle/>
          <a:p>
            <a:pPr eaLnBrk="1" hangingPunct="1">
              <a:spcBef>
                <a:spcPct val="30000"/>
              </a:spcBef>
            </a:pPr>
            <a:r>
              <a:rPr lang="en-US" altLang="zh-CN" sz="2800" dirty="0"/>
              <a:t>Let </a:t>
            </a:r>
            <a:r>
              <a:rPr lang="en-US" altLang="zh-CN" sz="2800" dirty="0">
                <a:sym typeface="Symbol" panose="05050102010706020507" pitchFamily="18" charset="2"/>
              </a:rPr>
              <a:t>=</a:t>
            </a:r>
            <a:r>
              <a:rPr lang="en-US" altLang="zh-CN" sz="2800" i="1" dirty="0">
                <a:sym typeface="Symbol" panose="05050102010706020507" pitchFamily="18" charset="2"/>
              </a:rPr>
              <a:t>C</a:t>
            </a:r>
            <a:r>
              <a:rPr lang="en-US" altLang="zh-CN" sz="2800" baseline="-25000" dirty="0"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ym typeface="Symbol" panose="05050102010706020507" pitchFamily="18" charset="2"/>
              </a:rPr>
              <a:t></a:t>
            </a:r>
            <a:r>
              <a:rPr lang="en-US" altLang="zh-CN" sz="2800" i="1" dirty="0">
                <a:sym typeface="Symbol" panose="05050102010706020507" pitchFamily="18" charset="2"/>
              </a:rPr>
              <a:t>C</a:t>
            </a:r>
            <a:r>
              <a:rPr lang="en-US" altLang="zh-CN" sz="2800" baseline="-25000" dirty="0"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ym typeface="Symbol" panose="05050102010706020507" pitchFamily="18" charset="2"/>
              </a:rPr>
              <a:t>...</a:t>
            </a:r>
            <a:r>
              <a:rPr lang="en-US" altLang="zh-CN" sz="2800" i="1" dirty="0">
                <a:sym typeface="Symbol" panose="05050102010706020507" pitchFamily="18" charset="2"/>
              </a:rPr>
              <a:t>C</a:t>
            </a:r>
            <a:r>
              <a:rPr lang="en-US" altLang="zh-CN" sz="2800" i="1" baseline="-25000" dirty="0">
                <a:sym typeface="Symbol" panose="05050102010706020507" pitchFamily="18" charset="2"/>
              </a:rPr>
              <a:t>k </a:t>
            </a:r>
            <a:r>
              <a:rPr lang="en-US" altLang="zh-CN" sz="2800" dirty="0">
                <a:sym typeface="Symbol" panose="05050102010706020507" pitchFamily="18" charset="2"/>
              </a:rPr>
              <a:t>be a formula in CNF-3 with </a:t>
            </a:r>
            <a:r>
              <a:rPr lang="en-US" altLang="zh-CN" sz="2800" i="1" dirty="0">
                <a:sym typeface="Symbol" panose="05050102010706020507" pitchFamily="18" charset="2"/>
              </a:rPr>
              <a:t>k</a:t>
            </a:r>
            <a:r>
              <a:rPr lang="en-US" altLang="zh-CN" sz="2800" dirty="0">
                <a:sym typeface="Symbol" panose="05050102010706020507" pitchFamily="18" charset="2"/>
              </a:rPr>
              <a:t> clauses. For </a:t>
            </a:r>
            <a:r>
              <a:rPr lang="en-US" altLang="zh-CN" sz="2800" i="1" dirty="0">
                <a:sym typeface="Symbol" panose="05050102010706020507" pitchFamily="18" charset="2"/>
              </a:rPr>
              <a:t>r </a:t>
            </a:r>
            <a:r>
              <a:rPr lang="en-US" altLang="zh-CN" sz="2800" dirty="0">
                <a:sym typeface="Symbol" panose="05050102010706020507" pitchFamily="18" charset="2"/>
              </a:rPr>
              <a:t>=1,2,...,</a:t>
            </a:r>
            <a:r>
              <a:rPr lang="en-US" altLang="zh-CN" sz="2800" i="1" dirty="0">
                <a:sym typeface="Symbol" panose="05050102010706020507" pitchFamily="18" charset="2"/>
              </a:rPr>
              <a:t>k</a:t>
            </a:r>
            <a:r>
              <a:rPr lang="en-US" altLang="zh-CN" sz="2800" dirty="0">
                <a:sym typeface="Symbol" panose="05050102010706020507" pitchFamily="18" charset="2"/>
              </a:rPr>
              <a:t>, each clause </a:t>
            </a:r>
            <a:r>
              <a:rPr lang="en-US" altLang="zh-CN" sz="2800" i="1" dirty="0">
                <a:sym typeface="Symbol" panose="05050102010706020507" pitchFamily="18" charset="2"/>
              </a:rPr>
              <a:t>C</a:t>
            </a:r>
            <a:r>
              <a:rPr lang="en-US" altLang="zh-CN" sz="2800" baseline="-25000" dirty="0"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=(</a:t>
            </a:r>
            <a:r>
              <a:rPr lang="en-US" altLang="zh-CN" sz="2800" i="1" dirty="0">
                <a:sym typeface="Symbol" panose="05050102010706020507" pitchFamily="18" charset="2"/>
              </a:rPr>
              <a:t>l</a:t>
            </a:r>
            <a:r>
              <a:rPr lang="en-US" altLang="zh-CN" sz="2800" baseline="-25000" dirty="0">
                <a:sym typeface="Symbol" panose="05050102010706020507" pitchFamily="18" charset="2"/>
              </a:rPr>
              <a:t>1</a:t>
            </a:r>
            <a:r>
              <a:rPr lang="en-US" altLang="zh-CN" sz="2800" baseline="30000" dirty="0"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</a:t>
            </a:r>
            <a:r>
              <a:rPr lang="en-US" altLang="zh-CN" sz="2800" i="1" dirty="0">
                <a:sym typeface="Symbol" panose="05050102010706020507" pitchFamily="18" charset="2"/>
              </a:rPr>
              <a:t>l</a:t>
            </a:r>
            <a:r>
              <a:rPr lang="en-US" altLang="zh-CN" sz="2800" baseline="-25000" dirty="0">
                <a:sym typeface="Symbol" panose="05050102010706020507" pitchFamily="18" charset="2"/>
              </a:rPr>
              <a:t>2</a:t>
            </a:r>
            <a:r>
              <a:rPr lang="en-US" altLang="zh-CN" sz="2800" baseline="30000" dirty="0"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</a:t>
            </a:r>
            <a:r>
              <a:rPr lang="en-US" altLang="zh-CN" sz="2800" i="1" dirty="0">
                <a:sym typeface="Symbol" panose="05050102010706020507" pitchFamily="18" charset="2"/>
              </a:rPr>
              <a:t>l</a:t>
            </a:r>
            <a:r>
              <a:rPr lang="en-US" altLang="zh-CN" sz="2800" baseline="-25000" dirty="0">
                <a:sym typeface="Symbol" panose="05050102010706020507" pitchFamily="18" charset="2"/>
              </a:rPr>
              <a:t>3</a:t>
            </a:r>
            <a:r>
              <a:rPr lang="en-US" altLang="zh-CN" sz="2800" baseline="30000" dirty="0"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), </a:t>
            </a:r>
            <a:r>
              <a:rPr lang="en-US" altLang="zh-CN" sz="2800" i="1" dirty="0">
                <a:sym typeface="Symbol" panose="05050102010706020507" pitchFamily="18" charset="2"/>
              </a:rPr>
              <a:t>l</a:t>
            </a:r>
            <a:r>
              <a:rPr lang="en-US" altLang="zh-CN" sz="2800" baseline="-25000" dirty="0">
                <a:sym typeface="Symbol" panose="05050102010706020507" pitchFamily="18" charset="2"/>
              </a:rPr>
              <a:t>i</a:t>
            </a:r>
            <a:r>
              <a:rPr lang="en-US" altLang="zh-CN" sz="2800" baseline="30000" dirty="0"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 is </a:t>
            </a:r>
            <a:r>
              <a:rPr lang="en-US" altLang="zh-CN" sz="2800" i="1" dirty="0">
                <a:sym typeface="Symbol" panose="05050102010706020507" pitchFamily="18" charset="2"/>
              </a:rPr>
              <a:t>x</a:t>
            </a:r>
            <a:r>
              <a:rPr lang="en-US" altLang="zh-CN" sz="2800" baseline="-25000" dirty="0">
                <a:sym typeface="Symbol" panose="05050102010706020507" pitchFamily="18" charset="2"/>
              </a:rPr>
              <a:t>i</a:t>
            </a:r>
            <a:r>
              <a:rPr lang="en-US" altLang="zh-CN" sz="2800" i="1" baseline="-25000" dirty="0"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or</a:t>
            </a:r>
            <a:r>
              <a:rPr lang="en-US" altLang="zh-CN" sz="2800" i="1" dirty="0">
                <a:sym typeface="Symbol" panose="05050102010706020507" pitchFamily="18" charset="2"/>
              </a:rPr>
              <a:t> x</a:t>
            </a:r>
            <a:r>
              <a:rPr lang="en-US" altLang="zh-CN" sz="2800" baseline="-25000" dirty="0">
                <a:sym typeface="Symbol" panose="05050102010706020507" pitchFamily="18" charset="2"/>
              </a:rPr>
              <a:t>i</a:t>
            </a:r>
            <a:r>
              <a:rPr lang="en-US" altLang="zh-CN" sz="2800" dirty="0">
                <a:sym typeface="Symbol" panose="05050102010706020507" pitchFamily="18" charset="2"/>
              </a:rPr>
              <a:t>, any of the variables in the formula.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zh-CN" sz="2800" dirty="0">
                <a:sym typeface="Symbol" panose="05050102010706020507" pitchFamily="18" charset="2"/>
              </a:rPr>
              <a:t>A graph can be constructed as follows. For each </a:t>
            </a:r>
            <a:r>
              <a:rPr lang="en-US" altLang="zh-CN" sz="2800" i="1" dirty="0">
                <a:sym typeface="Symbol" panose="05050102010706020507" pitchFamily="18" charset="2"/>
              </a:rPr>
              <a:t>C</a:t>
            </a:r>
            <a:r>
              <a:rPr lang="en-US" altLang="zh-CN" sz="2800" baseline="-25000" dirty="0"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, create a triple of vertices </a:t>
            </a:r>
            <a:r>
              <a:rPr lang="en-US" altLang="zh-CN" sz="2800" i="1" dirty="0">
                <a:sym typeface="Symbol" panose="05050102010706020507" pitchFamily="18" charset="2"/>
              </a:rPr>
              <a:t>v</a:t>
            </a:r>
            <a:r>
              <a:rPr lang="en-US" altLang="zh-CN" sz="2800" baseline="-25000" dirty="0">
                <a:sym typeface="Symbol" panose="05050102010706020507" pitchFamily="18" charset="2"/>
              </a:rPr>
              <a:t>1</a:t>
            </a:r>
            <a:r>
              <a:rPr lang="en-US" altLang="zh-CN" sz="2800" baseline="30000" dirty="0"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, </a:t>
            </a:r>
            <a:r>
              <a:rPr lang="en-US" altLang="zh-CN" sz="2800" i="1" dirty="0">
                <a:sym typeface="Symbol" panose="05050102010706020507" pitchFamily="18" charset="2"/>
              </a:rPr>
              <a:t>v</a:t>
            </a:r>
            <a:r>
              <a:rPr lang="en-US" altLang="zh-CN" sz="2800" baseline="-25000" dirty="0">
                <a:sym typeface="Symbol" panose="05050102010706020507" pitchFamily="18" charset="2"/>
              </a:rPr>
              <a:t>2</a:t>
            </a:r>
            <a:r>
              <a:rPr lang="en-US" altLang="zh-CN" sz="2800" baseline="30000" dirty="0"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 and </a:t>
            </a:r>
            <a:r>
              <a:rPr lang="en-US" altLang="zh-CN" sz="2800" i="1" dirty="0">
                <a:sym typeface="Symbol" panose="05050102010706020507" pitchFamily="18" charset="2"/>
              </a:rPr>
              <a:t>v</a:t>
            </a:r>
            <a:r>
              <a:rPr lang="en-US" altLang="zh-CN" sz="2800" baseline="-25000" dirty="0">
                <a:sym typeface="Symbol" panose="05050102010706020507" pitchFamily="18" charset="2"/>
              </a:rPr>
              <a:t>3</a:t>
            </a:r>
            <a:r>
              <a:rPr lang="en-US" altLang="zh-CN" sz="2800" baseline="30000" dirty="0"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, and create edges between </a:t>
            </a:r>
            <a:r>
              <a:rPr lang="en-US" altLang="zh-CN" sz="2800" i="1" dirty="0">
                <a:sym typeface="Symbol" panose="05050102010706020507" pitchFamily="18" charset="2"/>
              </a:rPr>
              <a:t>v</a:t>
            </a:r>
            <a:r>
              <a:rPr lang="en-US" altLang="zh-CN" sz="2800" baseline="-25000" dirty="0">
                <a:sym typeface="Symbol" panose="05050102010706020507" pitchFamily="18" charset="2"/>
              </a:rPr>
              <a:t>i</a:t>
            </a:r>
            <a:r>
              <a:rPr lang="en-US" altLang="zh-CN" sz="2800" baseline="30000" dirty="0"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sym typeface="Symbol" panose="05050102010706020507" pitchFamily="18" charset="2"/>
              </a:rPr>
              <a:t> and </a:t>
            </a:r>
            <a:r>
              <a:rPr lang="en-US" altLang="zh-CN" sz="2800" i="1" dirty="0">
                <a:sym typeface="Symbol" panose="05050102010706020507" pitchFamily="18" charset="2"/>
              </a:rPr>
              <a:t>v</a:t>
            </a:r>
            <a:r>
              <a:rPr lang="en-US" altLang="zh-CN" sz="2800" baseline="-25000" dirty="0">
                <a:sym typeface="Symbol" panose="05050102010706020507" pitchFamily="18" charset="2"/>
              </a:rPr>
              <a:t>j</a:t>
            </a:r>
            <a:r>
              <a:rPr lang="en-US" altLang="zh-CN" sz="2800" baseline="30000" dirty="0">
                <a:sym typeface="Symbol" panose="05050102010706020507" pitchFamily="18" charset="2"/>
              </a:rPr>
              <a:t>s</a:t>
            </a:r>
            <a:r>
              <a:rPr lang="en-US" altLang="zh-CN" sz="2800" dirty="0">
                <a:sym typeface="Symbol" panose="05050102010706020507" pitchFamily="18" charset="2"/>
              </a:rPr>
              <a:t> if and only if: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zh-CN" sz="2400" dirty="0">
                <a:sym typeface="Symbol" panose="05050102010706020507" pitchFamily="18" charset="2"/>
              </a:rPr>
              <a:t>they are in different triples, i.e. </a:t>
            </a:r>
            <a:r>
              <a:rPr lang="en-US" altLang="zh-CN" sz="2400" i="1" dirty="0">
                <a:sym typeface="Symbol" panose="05050102010706020507" pitchFamily="18" charset="2"/>
              </a:rPr>
              <a:t>r</a:t>
            </a:r>
            <a:r>
              <a:rPr lang="en-US" altLang="zh-CN" sz="2400" dirty="0">
                <a:sym typeface="Symbol" panose="05050102010706020507" pitchFamily="18" charset="2"/>
              </a:rPr>
              <a:t></a:t>
            </a:r>
            <a:r>
              <a:rPr lang="en-US" altLang="zh-CN" sz="2400" i="1" dirty="0">
                <a:sym typeface="Symbol" panose="05050102010706020507" pitchFamily="18" charset="2"/>
              </a:rPr>
              <a:t>s</a:t>
            </a:r>
            <a:r>
              <a:rPr lang="en-US" altLang="zh-CN" sz="2400" dirty="0">
                <a:sym typeface="Symbol" panose="05050102010706020507" pitchFamily="18" charset="2"/>
              </a:rPr>
              <a:t>, and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zh-CN" sz="2400" dirty="0">
                <a:sym typeface="Symbol" panose="05050102010706020507" pitchFamily="18" charset="2"/>
              </a:rPr>
              <a:t>they do not correspond to the literals negating each other</a:t>
            </a:r>
          </a:p>
          <a:p>
            <a:pPr lvl="1" algn="ctr" eaLnBrk="1" hangingPunct="1"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chemeClr val="tx2"/>
                </a:solidFill>
                <a:sym typeface="Symbol" panose="05050102010706020507" pitchFamily="18" charset="2"/>
              </a:rPr>
              <a:t>(Note: there is no edges within one triple)</a:t>
            </a:r>
          </a:p>
          <a:p>
            <a:pPr lvl="1" eaLnBrk="1" hangingPunct="1">
              <a:spcBef>
                <a:spcPct val="30000"/>
              </a:spcBef>
            </a:pPr>
            <a:endParaRPr lang="en-US" altLang="zh-CN" sz="2400" dirty="0">
              <a:sym typeface="Symbol" panose="05050102010706020507" pitchFamily="18" charset="2"/>
            </a:endParaRPr>
          </a:p>
        </p:txBody>
      </p:sp>
      <p:sp>
        <p:nvSpPr>
          <p:cNvPr id="12292" name="Line 7"/>
          <p:cNvSpPr>
            <a:spLocks noChangeShapeType="1"/>
          </p:cNvSpPr>
          <p:nvPr/>
        </p:nvSpPr>
        <p:spPr bwMode="auto">
          <a:xfrm>
            <a:off x="2141538" y="5184775"/>
            <a:ext cx="22955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293" name="Line 8"/>
          <p:cNvSpPr>
            <a:spLocks noChangeShapeType="1"/>
          </p:cNvSpPr>
          <p:nvPr/>
        </p:nvSpPr>
        <p:spPr bwMode="auto">
          <a:xfrm>
            <a:off x="3267075" y="5184775"/>
            <a:ext cx="495300" cy="58420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33213" y="262025"/>
            <a:ext cx="63630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</a:rPr>
              <a:t>Do you remember how to reduce 3SAT to Clique?</a:t>
            </a:r>
          </a:p>
        </p:txBody>
      </p:sp>
    </p:spTree>
    <p:extLst>
      <p:ext uri="{BB962C8B-B14F-4D97-AF65-F5344CB8AC3E}">
        <p14:creationId xmlns:p14="http://schemas.microsoft.com/office/powerpoint/2010/main" val="1499304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Oval 45" descr="白色大理石"/>
          <p:cNvSpPr>
            <a:spLocks noChangeArrowheads="1"/>
          </p:cNvSpPr>
          <p:nvPr/>
        </p:nvSpPr>
        <p:spPr bwMode="auto">
          <a:xfrm>
            <a:off x="3814763" y="3971925"/>
            <a:ext cx="1042987" cy="2271713"/>
          </a:xfrm>
          <a:prstGeom prst="ellips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3315" name="Oval 44" descr="信纸"/>
          <p:cNvSpPr>
            <a:spLocks noChangeArrowheads="1"/>
          </p:cNvSpPr>
          <p:nvPr/>
        </p:nvSpPr>
        <p:spPr bwMode="auto">
          <a:xfrm>
            <a:off x="519113" y="4043363"/>
            <a:ext cx="990600" cy="2286000"/>
          </a:xfrm>
          <a:prstGeom prst="ellipse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3316" name="Oval 43" descr="蓝色砂纸"/>
          <p:cNvSpPr>
            <a:spLocks noChangeArrowheads="1"/>
          </p:cNvSpPr>
          <p:nvPr/>
        </p:nvSpPr>
        <p:spPr bwMode="auto">
          <a:xfrm>
            <a:off x="1295400" y="2819400"/>
            <a:ext cx="2743200" cy="838200"/>
          </a:xfrm>
          <a:prstGeom prst="ellipse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graphicFrame>
        <p:nvGraphicFramePr>
          <p:cNvPr id="13318" name="Object 3"/>
          <p:cNvGraphicFramePr>
            <a:graphicFrameLocks noChangeAspect="1"/>
          </p:cNvGraphicFramePr>
          <p:nvPr/>
        </p:nvGraphicFramePr>
        <p:xfrm>
          <a:off x="838200" y="1905000"/>
          <a:ext cx="6858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" name="Equation" r:id="rId6" imgW="3022600" imgH="228600" progId="Equation.3">
                  <p:embed/>
                </p:oleObj>
              </mc:Choice>
              <mc:Fallback>
                <p:oleObj name="Equation" r:id="rId6" imgW="3022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905000"/>
                        <a:ext cx="68580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Oval 4"/>
          <p:cNvSpPr>
            <a:spLocks noChangeArrowheads="1"/>
          </p:cNvSpPr>
          <p:nvPr/>
        </p:nvSpPr>
        <p:spPr bwMode="auto">
          <a:xfrm>
            <a:off x="1704975" y="3048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3320" name="Text Box 5"/>
          <p:cNvSpPr txBox="1">
            <a:spLocks noChangeArrowheads="1"/>
          </p:cNvSpPr>
          <p:nvPr/>
        </p:nvSpPr>
        <p:spPr bwMode="auto">
          <a:xfrm>
            <a:off x="1700213" y="3019425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i="1">
                <a:sym typeface="Symbol" panose="05050102010706020507" pitchFamily="18" charset="2"/>
              </a:rPr>
              <a:t>x</a:t>
            </a:r>
            <a:r>
              <a:rPr lang="en-US" altLang="zh-CN" sz="1800" baseline="-25000">
                <a:sym typeface="Symbol" panose="05050102010706020507" pitchFamily="18" charset="2"/>
              </a:rPr>
              <a:t>1</a:t>
            </a:r>
            <a:endParaRPr lang="en-US" altLang="zh-CN" sz="1800"/>
          </a:p>
        </p:txBody>
      </p:sp>
      <p:sp>
        <p:nvSpPr>
          <p:cNvPr id="13321" name="Oval 8"/>
          <p:cNvSpPr>
            <a:spLocks noChangeArrowheads="1"/>
          </p:cNvSpPr>
          <p:nvPr/>
        </p:nvSpPr>
        <p:spPr bwMode="auto">
          <a:xfrm>
            <a:off x="2466975" y="3048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3322" name="Text Box 9"/>
          <p:cNvSpPr txBox="1">
            <a:spLocks noChangeArrowheads="1"/>
          </p:cNvSpPr>
          <p:nvPr/>
        </p:nvSpPr>
        <p:spPr bwMode="auto">
          <a:xfrm>
            <a:off x="2376488" y="3019425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>
                <a:sym typeface="Symbol" panose="05050102010706020507" pitchFamily="18" charset="2"/>
              </a:rPr>
              <a:t></a:t>
            </a:r>
            <a:r>
              <a:rPr lang="en-US" altLang="zh-CN" sz="1800" i="1">
                <a:sym typeface="Symbol" panose="05050102010706020507" pitchFamily="18" charset="2"/>
              </a:rPr>
              <a:t>x</a:t>
            </a:r>
            <a:r>
              <a:rPr lang="en-US" altLang="zh-CN" sz="1800" baseline="-25000">
                <a:sym typeface="Symbol" panose="05050102010706020507" pitchFamily="18" charset="2"/>
              </a:rPr>
              <a:t>2</a:t>
            </a:r>
            <a:endParaRPr lang="en-US" altLang="zh-CN" sz="1800"/>
          </a:p>
        </p:txBody>
      </p:sp>
      <p:sp>
        <p:nvSpPr>
          <p:cNvPr id="13323" name="Oval 11"/>
          <p:cNvSpPr>
            <a:spLocks noChangeArrowheads="1"/>
          </p:cNvSpPr>
          <p:nvPr/>
        </p:nvSpPr>
        <p:spPr bwMode="auto">
          <a:xfrm>
            <a:off x="3228975" y="304800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3138488" y="3005138"/>
            <a:ext cx="685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>
                <a:sym typeface="Symbol" panose="05050102010706020507" pitchFamily="18" charset="2"/>
              </a:rPr>
              <a:t></a:t>
            </a:r>
            <a:r>
              <a:rPr lang="en-US" altLang="zh-CN" sz="1800" i="1">
                <a:sym typeface="Symbol" panose="05050102010706020507" pitchFamily="18" charset="2"/>
              </a:rPr>
              <a:t>x</a:t>
            </a:r>
            <a:r>
              <a:rPr lang="en-US" altLang="zh-CN" sz="1800" baseline="-25000">
                <a:sym typeface="Symbol" panose="05050102010706020507" pitchFamily="18" charset="2"/>
              </a:rPr>
              <a:t>3</a:t>
            </a:r>
            <a:endParaRPr lang="en-US" altLang="zh-CN" sz="1800"/>
          </a:p>
        </p:txBody>
      </p:sp>
      <p:sp>
        <p:nvSpPr>
          <p:cNvPr id="13325" name="Oval 26"/>
          <p:cNvSpPr>
            <a:spLocks noChangeArrowheads="1"/>
          </p:cNvSpPr>
          <p:nvPr/>
        </p:nvSpPr>
        <p:spPr bwMode="auto">
          <a:xfrm>
            <a:off x="762000" y="4295775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3326" name="Text Box 27"/>
          <p:cNvSpPr txBox="1">
            <a:spLocks noChangeArrowheads="1"/>
          </p:cNvSpPr>
          <p:nvPr/>
        </p:nvSpPr>
        <p:spPr bwMode="auto">
          <a:xfrm>
            <a:off x="685800" y="4267200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>
                <a:sym typeface="Symbol" panose="05050102010706020507" pitchFamily="18" charset="2"/>
              </a:rPr>
              <a:t></a:t>
            </a:r>
            <a:r>
              <a:rPr lang="en-US" altLang="zh-CN" sz="1800" i="1">
                <a:sym typeface="Symbol" panose="05050102010706020507" pitchFamily="18" charset="2"/>
              </a:rPr>
              <a:t>x</a:t>
            </a:r>
            <a:r>
              <a:rPr lang="en-US" altLang="zh-CN" sz="1800" baseline="-25000">
                <a:sym typeface="Symbol" panose="05050102010706020507" pitchFamily="18" charset="2"/>
              </a:rPr>
              <a:t>1</a:t>
            </a:r>
            <a:endParaRPr lang="en-US" altLang="zh-CN" sz="1800"/>
          </a:p>
        </p:txBody>
      </p:sp>
      <p:sp>
        <p:nvSpPr>
          <p:cNvPr id="13327" name="Oval 29"/>
          <p:cNvSpPr>
            <a:spLocks noChangeArrowheads="1"/>
          </p:cNvSpPr>
          <p:nvPr/>
        </p:nvSpPr>
        <p:spPr bwMode="auto">
          <a:xfrm>
            <a:off x="762000" y="4995863"/>
            <a:ext cx="360363" cy="3603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3328" name="Text Box 30"/>
          <p:cNvSpPr txBox="1">
            <a:spLocks noChangeArrowheads="1"/>
          </p:cNvSpPr>
          <p:nvPr/>
        </p:nvSpPr>
        <p:spPr bwMode="auto">
          <a:xfrm>
            <a:off x="742950" y="4981575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i="1">
                <a:sym typeface="Symbol" panose="05050102010706020507" pitchFamily="18" charset="2"/>
              </a:rPr>
              <a:t>x</a:t>
            </a:r>
            <a:r>
              <a:rPr lang="en-US" altLang="zh-CN" sz="1800" baseline="-25000">
                <a:sym typeface="Symbol" panose="05050102010706020507" pitchFamily="18" charset="2"/>
              </a:rPr>
              <a:t>2</a:t>
            </a:r>
            <a:endParaRPr lang="en-US" altLang="zh-CN" sz="1800"/>
          </a:p>
        </p:txBody>
      </p:sp>
      <p:sp>
        <p:nvSpPr>
          <p:cNvPr id="13329" name="Oval 32"/>
          <p:cNvSpPr>
            <a:spLocks noChangeArrowheads="1"/>
          </p:cNvSpPr>
          <p:nvPr/>
        </p:nvSpPr>
        <p:spPr bwMode="auto">
          <a:xfrm>
            <a:off x="762000" y="5667375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3330" name="Text Box 33"/>
          <p:cNvSpPr txBox="1">
            <a:spLocks noChangeArrowheads="1"/>
          </p:cNvSpPr>
          <p:nvPr/>
        </p:nvSpPr>
        <p:spPr bwMode="auto">
          <a:xfrm>
            <a:off x="771525" y="5638800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i="1">
                <a:sym typeface="Symbol" panose="05050102010706020507" pitchFamily="18" charset="2"/>
              </a:rPr>
              <a:t>x</a:t>
            </a:r>
            <a:r>
              <a:rPr lang="en-US" altLang="zh-CN" sz="1800" baseline="-25000">
                <a:sym typeface="Symbol" panose="05050102010706020507" pitchFamily="18" charset="2"/>
              </a:rPr>
              <a:t>3</a:t>
            </a:r>
            <a:endParaRPr lang="en-US" altLang="zh-CN" sz="1800"/>
          </a:p>
        </p:txBody>
      </p:sp>
      <p:sp>
        <p:nvSpPr>
          <p:cNvPr id="13331" name="Oval 35"/>
          <p:cNvSpPr>
            <a:spLocks noChangeArrowheads="1"/>
          </p:cNvSpPr>
          <p:nvPr/>
        </p:nvSpPr>
        <p:spPr bwMode="auto">
          <a:xfrm>
            <a:off x="4114800" y="424815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3332" name="Text Box 36"/>
          <p:cNvSpPr txBox="1">
            <a:spLocks noChangeArrowheads="1"/>
          </p:cNvSpPr>
          <p:nvPr/>
        </p:nvSpPr>
        <p:spPr bwMode="auto">
          <a:xfrm>
            <a:off x="4095750" y="4219575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i="1">
                <a:sym typeface="Symbol" panose="05050102010706020507" pitchFamily="18" charset="2"/>
              </a:rPr>
              <a:t>x</a:t>
            </a:r>
            <a:r>
              <a:rPr lang="en-US" altLang="zh-CN" sz="1800" baseline="-25000">
                <a:sym typeface="Symbol" panose="05050102010706020507" pitchFamily="18" charset="2"/>
              </a:rPr>
              <a:t>1</a:t>
            </a:r>
            <a:endParaRPr lang="en-US" altLang="zh-CN" sz="1800"/>
          </a:p>
        </p:txBody>
      </p:sp>
      <p:sp>
        <p:nvSpPr>
          <p:cNvPr id="13333" name="Oval 38"/>
          <p:cNvSpPr>
            <a:spLocks noChangeArrowheads="1"/>
          </p:cNvSpPr>
          <p:nvPr/>
        </p:nvSpPr>
        <p:spPr bwMode="auto">
          <a:xfrm>
            <a:off x="4114800" y="493395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3334" name="Text Box 39"/>
          <p:cNvSpPr txBox="1">
            <a:spLocks noChangeArrowheads="1"/>
          </p:cNvSpPr>
          <p:nvPr/>
        </p:nvSpPr>
        <p:spPr bwMode="auto">
          <a:xfrm>
            <a:off x="4138613" y="4891088"/>
            <a:ext cx="685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i="1">
                <a:sym typeface="Symbol" panose="05050102010706020507" pitchFamily="18" charset="2"/>
              </a:rPr>
              <a:t>x</a:t>
            </a:r>
            <a:r>
              <a:rPr lang="en-US" altLang="zh-CN" sz="1800" baseline="-25000">
                <a:sym typeface="Symbol" panose="05050102010706020507" pitchFamily="18" charset="2"/>
              </a:rPr>
              <a:t>2</a:t>
            </a:r>
            <a:endParaRPr lang="en-US" altLang="zh-CN" sz="1800"/>
          </a:p>
        </p:txBody>
      </p:sp>
      <p:sp>
        <p:nvSpPr>
          <p:cNvPr id="13335" name="Oval 41"/>
          <p:cNvSpPr>
            <a:spLocks noChangeArrowheads="1"/>
          </p:cNvSpPr>
          <p:nvPr/>
        </p:nvSpPr>
        <p:spPr bwMode="auto">
          <a:xfrm>
            <a:off x="4114800" y="5619750"/>
            <a:ext cx="360363" cy="3603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3336" name="Text Box 42"/>
          <p:cNvSpPr txBox="1">
            <a:spLocks noChangeArrowheads="1"/>
          </p:cNvSpPr>
          <p:nvPr/>
        </p:nvSpPr>
        <p:spPr bwMode="auto">
          <a:xfrm>
            <a:off x="4110038" y="5605463"/>
            <a:ext cx="685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i="1">
                <a:sym typeface="Symbol" panose="05050102010706020507" pitchFamily="18" charset="2"/>
              </a:rPr>
              <a:t>x</a:t>
            </a:r>
            <a:r>
              <a:rPr lang="en-US" altLang="zh-CN" sz="1800" baseline="-25000">
                <a:sym typeface="Symbol" panose="05050102010706020507" pitchFamily="18" charset="2"/>
              </a:rPr>
              <a:t>3</a:t>
            </a:r>
            <a:endParaRPr lang="en-US" altLang="zh-CN" sz="1800"/>
          </a:p>
        </p:txBody>
      </p:sp>
      <p:sp>
        <p:nvSpPr>
          <p:cNvPr id="13337" name="Line 46"/>
          <p:cNvSpPr>
            <a:spLocks noChangeShapeType="1"/>
          </p:cNvSpPr>
          <p:nvPr/>
        </p:nvSpPr>
        <p:spPr bwMode="auto">
          <a:xfrm flipH="1">
            <a:off x="1042988" y="3414713"/>
            <a:ext cx="785812" cy="1614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38" name="Line 47"/>
          <p:cNvSpPr>
            <a:spLocks noChangeShapeType="1"/>
          </p:cNvSpPr>
          <p:nvPr/>
        </p:nvSpPr>
        <p:spPr bwMode="auto">
          <a:xfrm flipH="1">
            <a:off x="1028700" y="3414713"/>
            <a:ext cx="857250" cy="22717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39" name="Line 48"/>
          <p:cNvSpPr>
            <a:spLocks noChangeShapeType="1"/>
          </p:cNvSpPr>
          <p:nvPr/>
        </p:nvSpPr>
        <p:spPr bwMode="auto">
          <a:xfrm flipH="1">
            <a:off x="1100138" y="3286125"/>
            <a:ext cx="1385887" cy="1100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40" name="Line 49"/>
          <p:cNvSpPr>
            <a:spLocks noChangeShapeType="1"/>
          </p:cNvSpPr>
          <p:nvPr/>
        </p:nvSpPr>
        <p:spPr bwMode="auto">
          <a:xfrm flipH="1">
            <a:off x="1085850" y="3386138"/>
            <a:ext cx="1457325" cy="2357437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41" name="Line 50"/>
          <p:cNvSpPr>
            <a:spLocks noChangeShapeType="1"/>
          </p:cNvSpPr>
          <p:nvPr/>
        </p:nvSpPr>
        <p:spPr bwMode="auto">
          <a:xfrm flipH="1">
            <a:off x="1114425" y="3300413"/>
            <a:ext cx="2128838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42" name="Line 51"/>
          <p:cNvSpPr>
            <a:spLocks noChangeShapeType="1"/>
          </p:cNvSpPr>
          <p:nvPr/>
        </p:nvSpPr>
        <p:spPr bwMode="auto">
          <a:xfrm flipH="1">
            <a:off x="1071563" y="3343275"/>
            <a:ext cx="2200275" cy="1728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43" name="Line 52"/>
          <p:cNvSpPr>
            <a:spLocks noChangeShapeType="1"/>
          </p:cNvSpPr>
          <p:nvPr/>
        </p:nvSpPr>
        <p:spPr bwMode="auto">
          <a:xfrm>
            <a:off x="2071688" y="3286125"/>
            <a:ext cx="2057400" cy="10572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44" name="Line 53"/>
          <p:cNvSpPr>
            <a:spLocks noChangeShapeType="1"/>
          </p:cNvSpPr>
          <p:nvPr/>
        </p:nvSpPr>
        <p:spPr bwMode="auto">
          <a:xfrm>
            <a:off x="2043113" y="3328988"/>
            <a:ext cx="2085975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45" name="Line 54"/>
          <p:cNvSpPr>
            <a:spLocks noChangeShapeType="1"/>
          </p:cNvSpPr>
          <p:nvPr/>
        </p:nvSpPr>
        <p:spPr bwMode="auto">
          <a:xfrm>
            <a:off x="2000250" y="3371850"/>
            <a:ext cx="2143125" cy="2314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46" name="Line 55"/>
          <p:cNvSpPr>
            <a:spLocks noChangeShapeType="1"/>
          </p:cNvSpPr>
          <p:nvPr/>
        </p:nvSpPr>
        <p:spPr bwMode="auto">
          <a:xfrm>
            <a:off x="2800350" y="3343275"/>
            <a:ext cx="1371600" cy="942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47" name="Line 56"/>
          <p:cNvSpPr>
            <a:spLocks noChangeShapeType="1"/>
          </p:cNvSpPr>
          <p:nvPr/>
        </p:nvSpPr>
        <p:spPr bwMode="auto">
          <a:xfrm>
            <a:off x="2743200" y="3386138"/>
            <a:ext cx="1443038" cy="2271712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48" name="Line 57"/>
          <p:cNvSpPr>
            <a:spLocks noChangeShapeType="1"/>
          </p:cNvSpPr>
          <p:nvPr/>
        </p:nvSpPr>
        <p:spPr bwMode="auto">
          <a:xfrm>
            <a:off x="3529013" y="3371850"/>
            <a:ext cx="714375" cy="885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49" name="Line 58"/>
          <p:cNvSpPr>
            <a:spLocks noChangeShapeType="1"/>
          </p:cNvSpPr>
          <p:nvPr/>
        </p:nvSpPr>
        <p:spPr bwMode="auto">
          <a:xfrm>
            <a:off x="3457575" y="3414713"/>
            <a:ext cx="728663" cy="155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50" name="Line 59"/>
          <p:cNvSpPr>
            <a:spLocks noChangeShapeType="1"/>
          </p:cNvSpPr>
          <p:nvPr/>
        </p:nvSpPr>
        <p:spPr bwMode="auto">
          <a:xfrm>
            <a:off x="1128713" y="4514850"/>
            <a:ext cx="2986087" cy="571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51" name="Line 60"/>
          <p:cNvSpPr>
            <a:spLocks noChangeShapeType="1"/>
          </p:cNvSpPr>
          <p:nvPr/>
        </p:nvSpPr>
        <p:spPr bwMode="auto">
          <a:xfrm>
            <a:off x="1114425" y="4557713"/>
            <a:ext cx="3043238" cy="1185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52" name="Line 61"/>
          <p:cNvSpPr>
            <a:spLocks noChangeShapeType="1"/>
          </p:cNvSpPr>
          <p:nvPr/>
        </p:nvSpPr>
        <p:spPr bwMode="auto">
          <a:xfrm flipV="1">
            <a:off x="1128713" y="4443413"/>
            <a:ext cx="2986087" cy="657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53" name="Line 62"/>
          <p:cNvSpPr>
            <a:spLocks noChangeShapeType="1"/>
          </p:cNvSpPr>
          <p:nvPr/>
        </p:nvSpPr>
        <p:spPr bwMode="auto">
          <a:xfrm flipV="1">
            <a:off x="1114425" y="5157788"/>
            <a:ext cx="3028950" cy="14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54" name="Line 63"/>
          <p:cNvSpPr>
            <a:spLocks noChangeShapeType="1"/>
          </p:cNvSpPr>
          <p:nvPr/>
        </p:nvSpPr>
        <p:spPr bwMode="auto">
          <a:xfrm>
            <a:off x="1128713" y="5229225"/>
            <a:ext cx="3000375" cy="585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55" name="Line 64"/>
          <p:cNvSpPr>
            <a:spLocks noChangeShapeType="1"/>
          </p:cNvSpPr>
          <p:nvPr/>
        </p:nvSpPr>
        <p:spPr bwMode="auto">
          <a:xfrm flipV="1">
            <a:off x="1128713" y="4500563"/>
            <a:ext cx="3028950" cy="13001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56" name="Line 65"/>
          <p:cNvSpPr>
            <a:spLocks noChangeShapeType="1"/>
          </p:cNvSpPr>
          <p:nvPr/>
        </p:nvSpPr>
        <p:spPr bwMode="auto">
          <a:xfrm flipV="1">
            <a:off x="1128713" y="5214938"/>
            <a:ext cx="3028950" cy="642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57" name="Line 66"/>
          <p:cNvSpPr>
            <a:spLocks noChangeShapeType="1"/>
          </p:cNvSpPr>
          <p:nvPr/>
        </p:nvSpPr>
        <p:spPr bwMode="auto">
          <a:xfrm>
            <a:off x="1128713" y="5900738"/>
            <a:ext cx="3014662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58" name="Text Box 67"/>
          <p:cNvSpPr txBox="1">
            <a:spLocks noChangeArrowheads="1"/>
          </p:cNvSpPr>
          <p:nvPr/>
        </p:nvSpPr>
        <p:spPr bwMode="auto">
          <a:xfrm>
            <a:off x="4038600" y="2819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/>
              <a:t>C</a:t>
            </a:r>
            <a:r>
              <a:rPr lang="en-US" altLang="zh-CN" sz="2400" baseline="-25000"/>
              <a:t>1</a:t>
            </a:r>
            <a:endParaRPr lang="en-US" altLang="zh-CN" sz="2400" i="1"/>
          </a:p>
        </p:txBody>
      </p:sp>
      <p:sp>
        <p:nvSpPr>
          <p:cNvPr id="13359" name="Text Box 68"/>
          <p:cNvSpPr txBox="1">
            <a:spLocks noChangeArrowheads="1"/>
          </p:cNvSpPr>
          <p:nvPr/>
        </p:nvSpPr>
        <p:spPr bwMode="auto">
          <a:xfrm>
            <a:off x="457200" y="36576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/>
              <a:t>C</a:t>
            </a:r>
            <a:r>
              <a:rPr lang="en-US" altLang="zh-CN" sz="2400" baseline="-25000"/>
              <a:t>2</a:t>
            </a:r>
            <a:endParaRPr lang="en-US" altLang="zh-CN" sz="2400" i="1"/>
          </a:p>
        </p:txBody>
      </p:sp>
      <p:sp>
        <p:nvSpPr>
          <p:cNvPr id="13360" name="Text Box 69"/>
          <p:cNvSpPr txBox="1">
            <a:spLocks noChangeArrowheads="1"/>
          </p:cNvSpPr>
          <p:nvPr/>
        </p:nvSpPr>
        <p:spPr bwMode="auto">
          <a:xfrm>
            <a:off x="4648200" y="5486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/>
              <a:t>C</a:t>
            </a:r>
            <a:r>
              <a:rPr lang="en-US" altLang="zh-CN" sz="2400" baseline="-25000"/>
              <a:t>3</a:t>
            </a:r>
            <a:endParaRPr lang="en-US" altLang="zh-CN" sz="2400" i="1"/>
          </a:p>
        </p:txBody>
      </p:sp>
      <p:sp>
        <p:nvSpPr>
          <p:cNvPr id="13361" name="Text Box 70"/>
          <p:cNvSpPr txBox="1">
            <a:spLocks noChangeArrowheads="1"/>
          </p:cNvSpPr>
          <p:nvPr/>
        </p:nvSpPr>
        <p:spPr bwMode="auto">
          <a:xfrm>
            <a:off x="5157788" y="3114675"/>
            <a:ext cx="3741737" cy="1763713"/>
          </a:xfrm>
          <a:prstGeom prst="rect">
            <a:avLst/>
          </a:prstGeom>
          <a:solidFill>
            <a:srgbClr val="FFFF99"/>
          </a:solidFill>
          <a:ln w="57150" cmpd="thickThin">
            <a:solidFill>
              <a:srgbClr val="FFCC00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Two of satisfying assignments:</a:t>
            </a:r>
          </a:p>
          <a:p>
            <a:pPr algn="ctr"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06600"/>
                </a:solidFill>
              </a:rPr>
              <a:t>x</a:t>
            </a:r>
            <a:r>
              <a:rPr lang="en-US" altLang="zh-CN" sz="2000" baseline="-25000">
                <a:solidFill>
                  <a:srgbClr val="006600"/>
                </a:solidFill>
              </a:rPr>
              <a:t>1</a:t>
            </a:r>
            <a:r>
              <a:rPr lang="en-US" altLang="zh-CN" sz="2000">
                <a:solidFill>
                  <a:srgbClr val="006600"/>
                </a:solidFill>
              </a:rPr>
              <a:t>=1/0, </a:t>
            </a:r>
            <a:r>
              <a:rPr lang="en-US" altLang="zh-CN" sz="2000" i="1">
                <a:solidFill>
                  <a:srgbClr val="006600"/>
                </a:solidFill>
              </a:rPr>
              <a:t>x</a:t>
            </a:r>
            <a:r>
              <a:rPr lang="en-US" altLang="zh-CN" sz="2000" baseline="-25000">
                <a:solidFill>
                  <a:srgbClr val="006600"/>
                </a:solidFill>
              </a:rPr>
              <a:t>2</a:t>
            </a:r>
            <a:r>
              <a:rPr lang="en-US" altLang="zh-CN" sz="2000">
                <a:solidFill>
                  <a:srgbClr val="006600"/>
                </a:solidFill>
              </a:rPr>
              <a:t>=0; </a:t>
            </a:r>
            <a:r>
              <a:rPr lang="en-US" altLang="zh-CN" sz="2000" i="1">
                <a:solidFill>
                  <a:srgbClr val="006600"/>
                </a:solidFill>
              </a:rPr>
              <a:t>x</a:t>
            </a:r>
            <a:r>
              <a:rPr lang="en-US" altLang="zh-CN" sz="2000" baseline="-25000">
                <a:solidFill>
                  <a:srgbClr val="006600"/>
                </a:solidFill>
              </a:rPr>
              <a:t>3</a:t>
            </a:r>
            <a:r>
              <a:rPr lang="en-US" altLang="zh-CN" sz="2000">
                <a:solidFill>
                  <a:srgbClr val="006600"/>
                </a:solidFill>
              </a:rPr>
              <a:t>=1</a:t>
            </a:r>
            <a:r>
              <a:rPr lang="en-US" altLang="zh-CN" sz="2000"/>
              <a:t>, or</a:t>
            </a:r>
          </a:p>
          <a:p>
            <a:pPr algn="ctr"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FF0000"/>
                </a:solidFill>
              </a:rPr>
              <a:t>x</a:t>
            </a:r>
            <a:r>
              <a:rPr lang="en-US" altLang="zh-CN" sz="2000" baseline="-25000">
                <a:solidFill>
                  <a:srgbClr val="FF0000"/>
                </a:solidFill>
              </a:rPr>
              <a:t>1</a:t>
            </a:r>
            <a:r>
              <a:rPr lang="en-US" altLang="zh-CN" sz="2000">
                <a:solidFill>
                  <a:srgbClr val="FF0000"/>
                </a:solidFill>
              </a:rPr>
              <a:t>=1, </a:t>
            </a:r>
            <a:r>
              <a:rPr lang="en-US" altLang="zh-CN" sz="2000" i="1">
                <a:solidFill>
                  <a:srgbClr val="FF0000"/>
                </a:solidFill>
              </a:rPr>
              <a:t>x</a:t>
            </a:r>
            <a:r>
              <a:rPr lang="en-US" altLang="zh-CN" sz="2000" baseline="-25000">
                <a:solidFill>
                  <a:srgbClr val="FF0000"/>
                </a:solidFill>
              </a:rPr>
              <a:t>2</a:t>
            </a:r>
            <a:r>
              <a:rPr lang="en-US" altLang="zh-CN" sz="2000">
                <a:solidFill>
                  <a:srgbClr val="FF0000"/>
                </a:solidFill>
              </a:rPr>
              <a:t>=1/0, </a:t>
            </a:r>
            <a:r>
              <a:rPr lang="en-US" altLang="zh-CN" sz="2000" i="1">
                <a:solidFill>
                  <a:srgbClr val="FF0000"/>
                </a:solidFill>
              </a:rPr>
              <a:t>x</a:t>
            </a:r>
            <a:r>
              <a:rPr lang="en-US" altLang="zh-CN" sz="2000" baseline="-25000">
                <a:solidFill>
                  <a:srgbClr val="FF0000"/>
                </a:solidFill>
              </a:rPr>
              <a:t>3</a:t>
            </a:r>
            <a:r>
              <a:rPr lang="en-US" altLang="zh-CN" sz="2000">
                <a:solidFill>
                  <a:srgbClr val="FF0000"/>
                </a:solidFill>
              </a:rPr>
              <a:t>=1</a:t>
            </a:r>
            <a:endParaRPr lang="en-US" altLang="zh-CN" sz="2000" i="1">
              <a:solidFill>
                <a:srgbClr val="FF0000"/>
              </a:solidFill>
            </a:endParaRPr>
          </a:p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en-US" altLang="zh-CN" sz="2000"/>
              <a:t>For corresponding clique, pick one “true” literal from each triple</a:t>
            </a:r>
          </a:p>
        </p:txBody>
      </p:sp>
      <p:sp>
        <p:nvSpPr>
          <p:cNvPr id="51" name="矩形 50"/>
          <p:cNvSpPr/>
          <p:nvPr/>
        </p:nvSpPr>
        <p:spPr>
          <a:xfrm>
            <a:off x="633251" y="216842"/>
            <a:ext cx="63630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</a:rPr>
              <a:t>Do you remember how to reduce 3SAT to Clique?</a:t>
            </a:r>
          </a:p>
        </p:txBody>
      </p:sp>
    </p:spTree>
    <p:extLst>
      <p:ext uri="{BB962C8B-B14F-4D97-AF65-F5344CB8AC3E}">
        <p14:creationId xmlns:p14="http://schemas.microsoft.com/office/powerpoint/2010/main" val="2932447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281032" y="153629"/>
            <a:ext cx="32984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3SAT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≤</a:t>
            </a:r>
            <a:r>
              <a:rPr lang="en-US" altLang="zh-CN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 Independent Set</a:t>
            </a:r>
            <a:endParaRPr lang="en-US" altLang="zh-CN" dirty="0">
              <a:solidFill>
                <a:srgbClr val="0070C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15294"/>
            <a:ext cx="8895409" cy="166157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76" y="3140968"/>
            <a:ext cx="8735237" cy="1915941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79512" y="2636912"/>
            <a:ext cx="3496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</a:rPr>
              <a:t>The Polynomial Reduction</a:t>
            </a:r>
          </a:p>
        </p:txBody>
      </p:sp>
    </p:spTree>
    <p:extLst>
      <p:ext uri="{BB962C8B-B14F-4D97-AF65-F5344CB8AC3E}">
        <p14:creationId xmlns:p14="http://schemas.microsoft.com/office/powerpoint/2010/main" val="3902119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281032" y="153629"/>
            <a:ext cx="32984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3SAT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≤</a:t>
            </a:r>
            <a:r>
              <a:rPr lang="en-US" altLang="zh-CN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 Independent Set</a:t>
            </a:r>
            <a:endParaRPr lang="en-US" altLang="zh-CN" dirty="0">
              <a:solidFill>
                <a:srgbClr val="0070C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68" y="1118570"/>
            <a:ext cx="8735237" cy="1915941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46304" y="614514"/>
            <a:ext cx="3496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</a:rPr>
              <a:t>The Polynomial Reduction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761" y="3629025"/>
            <a:ext cx="672465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217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281032" y="153629"/>
            <a:ext cx="32984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3SAT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≤</a:t>
            </a:r>
            <a:r>
              <a:rPr lang="en-US" altLang="zh-CN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 Independent Set</a:t>
            </a:r>
            <a:endParaRPr lang="en-US" altLang="zh-CN" dirty="0">
              <a:solidFill>
                <a:srgbClr val="0070C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176367"/>
            <a:ext cx="5024035" cy="209927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38" y="2275645"/>
            <a:ext cx="7781925" cy="18954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386" y="4282178"/>
            <a:ext cx="7439025" cy="4000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63" y="4682228"/>
            <a:ext cx="7734300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584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281032" y="153629"/>
            <a:ext cx="18569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SAT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≤</a:t>
            </a:r>
            <a:r>
              <a:rPr lang="en-US" altLang="zh-CN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 3SAT</a:t>
            </a:r>
            <a:endParaRPr lang="en-US" altLang="zh-CN" dirty="0">
              <a:solidFill>
                <a:srgbClr val="0070C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6154" y="3013511"/>
            <a:ext cx="34964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</a:rPr>
              <a:t>The Polynomial Reduction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15294"/>
            <a:ext cx="8890192" cy="160974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54" y="3543278"/>
            <a:ext cx="8820342" cy="201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76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281032" y="153629"/>
            <a:ext cx="18569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SAT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≤</a:t>
            </a:r>
            <a:r>
              <a:rPr lang="en-US" altLang="zh-CN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 3SAT</a:t>
            </a:r>
            <a:endParaRPr lang="en-US" altLang="zh-CN" dirty="0">
              <a:solidFill>
                <a:srgbClr val="0070C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88" y="615294"/>
            <a:ext cx="8820342" cy="201452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86" y="2856629"/>
            <a:ext cx="8710703" cy="323666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50589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61169" y="798513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dirty="0"/>
              <a:t>Subset Sum Problem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8613" y="1941513"/>
            <a:ext cx="8518525" cy="45021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/>
              <a:t>Description of the problem: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The input is a positive integer </a:t>
            </a:r>
            <a:r>
              <a:rPr lang="en-US" altLang="zh-CN" i="1" dirty="0"/>
              <a:t>C</a:t>
            </a:r>
            <a:r>
              <a:rPr lang="en-US" altLang="zh-CN" dirty="0"/>
              <a:t> and </a:t>
            </a:r>
            <a:r>
              <a:rPr lang="en-US" altLang="zh-CN" i="1" dirty="0"/>
              <a:t>n</a:t>
            </a:r>
            <a:r>
              <a:rPr lang="en-US" altLang="zh-CN" dirty="0"/>
              <a:t> objects whose sizes are positive integers </a:t>
            </a:r>
            <a:r>
              <a:rPr lang="en-US" altLang="zh-CN" i="1" dirty="0"/>
              <a:t>s</a:t>
            </a:r>
            <a:r>
              <a:rPr lang="en-US" altLang="zh-CN" baseline="-25000" dirty="0"/>
              <a:t>1</a:t>
            </a:r>
            <a:r>
              <a:rPr lang="en-US" altLang="zh-CN" dirty="0"/>
              <a:t>,…</a:t>
            </a:r>
            <a:r>
              <a:rPr lang="en-US" altLang="zh-CN" i="1" dirty="0"/>
              <a:t>s</a:t>
            </a:r>
            <a:r>
              <a:rPr lang="en-US" altLang="zh-CN" baseline="-25000" dirty="0"/>
              <a:t>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Optimization problem: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Among subsets of the objects with sum at most </a:t>
            </a:r>
            <a:r>
              <a:rPr lang="en-US" altLang="zh-CN" i="1" dirty="0"/>
              <a:t>C</a:t>
            </a:r>
            <a:r>
              <a:rPr lang="en-US" altLang="zh-CN" dirty="0"/>
              <a:t>, what is the largest subset sum?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Decision problem: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Is there a subset of the objects whose sizes add up to exactly </a:t>
            </a:r>
            <a:r>
              <a:rPr lang="en-US" altLang="zh-CN" i="1" dirty="0"/>
              <a:t>C</a:t>
            </a:r>
            <a:r>
              <a:rPr lang="en-US" altLang="zh-CN" dirty="0"/>
              <a:t>?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328613" y="216023"/>
            <a:ext cx="80375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Subset Sum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≤</a:t>
            </a:r>
            <a:r>
              <a:rPr lang="en-US" altLang="zh-CN" sz="2400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solidFill>
                  <a:srgbClr val="FF0000"/>
                </a:solidFill>
              </a:rPr>
              <a:t> Job Scheduling</a:t>
            </a:r>
          </a:p>
        </p:txBody>
      </p:sp>
    </p:spTree>
    <p:extLst>
      <p:ext uri="{BB962C8B-B14F-4D97-AF65-F5344CB8AC3E}">
        <p14:creationId xmlns:p14="http://schemas.microsoft.com/office/powerpoint/2010/main" val="1989875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56728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dirty="0"/>
              <a:t>Job Scheduling with Penalties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6863" y="1719263"/>
            <a:ext cx="8550275" cy="48148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Description of the problem: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There are </a:t>
            </a:r>
            <a:r>
              <a:rPr lang="en-US" altLang="zh-CN" sz="2000" i="1" dirty="0"/>
              <a:t>n</a:t>
            </a:r>
            <a:r>
              <a:rPr lang="en-US" altLang="zh-CN" sz="2000" dirty="0"/>
              <a:t> </a:t>
            </a:r>
            <a:r>
              <a:rPr lang="en-US" altLang="zh-CN" sz="2000" b="1" dirty="0">
                <a:solidFill>
                  <a:srgbClr val="006600"/>
                </a:solidFill>
              </a:rPr>
              <a:t>jobs</a:t>
            </a:r>
            <a:r>
              <a:rPr lang="en-US" altLang="zh-CN" sz="2000" dirty="0"/>
              <a:t> </a:t>
            </a:r>
            <a:r>
              <a:rPr lang="en-US" altLang="zh-CN" sz="2000" i="1" dirty="0"/>
              <a:t>J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,…,</a:t>
            </a:r>
            <a:r>
              <a:rPr lang="en-US" altLang="zh-CN" sz="2000" i="1" dirty="0"/>
              <a:t>J</a:t>
            </a:r>
            <a:r>
              <a:rPr lang="en-US" altLang="zh-CN" sz="2000" baseline="-25000" dirty="0"/>
              <a:t>n</a:t>
            </a:r>
            <a:r>
              <a:rPr lang="en-US" altLang="zh-CN" sz="2000" dirty="0"/>
              <a:t> to be executed one at a time. Given execution times </a:t>
            </a:r>
            <a:r>
              <a:rPr lang="en-US" altLang="zh-CN" sz="2000" i="1" dirty="0"/>
              <a:t>t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,…,</a:t>
            </a:r>
            <a:r>
              <a:rPr lang="en-US" altLang="zh-CN" sz="2000" i="1" dirty="0"/>
              <a:t>t</a:t>
            </a:r>
            <a:r>
              <a:rPr lang="en-US" altLang="zh-CN" sz="2000" baseline="-25000" dirty="0"/>
              <a:t>n</a:t>
            </a:r>
            <a:r>
              <a:rPr lang="en-US" altLang="zh-CN" sz="2000" dirty="0"/>
              <a:t>, deadlines </a:t>
            </a:r>
            <a:r>
              <a:rPr lang="en-US" altLang="zh-CN" sz="2000" i="1" dirty="0"/>
              <a:t>d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,…,</a:t>
            </a:r>
            <a:r>
              <a:rPr lang="en-US" altLang="zh-CN" sz="2000" i="1" dirty="0"/>
              <a:t>d</a:t>
            </a:r>
            <a:r>
              <a:rPr lang="en-US" altLang="zh-CN" sz="2000" baseline="-25000" dirty="0"/>
              <a:t>n</a:t>
            </a:r>
            <a:r>
              <a:rPr lang="en-US" altLang="zh-CN" sz="2000" dirty="0"/>
              <a:t> and deadlines missing penalties </a:t>
            </a:r>
            <a:r>
              <a:rPr lang="en-US" altLang="zh-CN" sz="2000" i="1" dirty="0"/>
              <a:t>p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,…,</a:t>
            </a:r>
            <a:r>
              <a:rPr lang="en-US" altLang="zh-CN" sz="2000" i="1" dirty="0"/>
              <a:t>p</a:t>
            </a:r>
            <a:r>
              <a:rPr lang="en-US" altLang="zh-CN" sz="2000" baseline="-25000" dirty="0"/>
              <a:t>n</a:t>
            </a:r>
            <a:r>
              <a:rPr lang="en-US" altLang="zh-CN" sz="2000" dirty="0"/>
              <a:t>, all being positive integers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/>
              <a:t>A schedule for the jobs is a permutation </a:t>
            </a:r>
            <a:r>
              <a:rPr lang="en-US" altLang="zh-CN" sz="2000" dirty="0">
                <a:sym typeface="Symbol" panose="05050102010706020507" pitchFamily="18" charset="2"/>
              </a:rPr>
              <a:t> of {1,2,…,n}, satisfying that </a:t>
            </a:r>
            <a:r>
              <a:rPr lang="en-US" altLang="zh-CN" sz="2000" i="1" dirty="0">
                <a:sym typeface="Symbol" panose="05050102010706020507" pitchFamily="18" charset="2"/>
              </a:rPr>
              <a:t>J</a:t>
            </a:r>
            <a:r>
              <a:rPr lang="en-US" altLang="zh-CN" sz="2000" baseline="-25000" dirty="0">
                <a:sym typeface="Symbol" panose="05050102010706020507" pitchFamily="18" charset="2"/>
              </a:rPr>
              <a:t>(i)</a:t>
            </a:r>
            <a:r>
              <a:rPr lang="en-US" altLang="zh-CN" sz="2000" dirty="0">
                <a:sym typeface="Symbol" panose="05050102010706020507" pitchFamily="18" charset="2"/>
              </a:rPr>
              <a:t> is the </a:t>
            </a:r>
            <a:r>
              <a:rPr lang="en-US" altLang="zh-CN" sz="2000" i="1" dirty="0">
                <a:sym typeface="Symbol" panose="05050102010706020507" pitchFamily="18" charset="2"/>
              </a:rPr>
              <a:t>i </a:t>
            </a:r>
            <a:r>
              <a:rPr lang="en-US" altLang="zh-CN" sz="2000" dirty="0">
                <a:sym typeface="Symbol" panose="05050102010706020507" pitchFamily="18" charset="2"/>
              </a:rPr>
              <a:t>th job to be done. The total penalty for the schedule is 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sz="20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CN" sz="20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    where </a:t>
            </a:r>
            <a:r>
              <a:rPr lang="en-US" altLang="zh-CN" sz="2000" i="1" dirty="0">
                <a:sym typeface="Symbol" panose="05050102010706020507" pitchFamily="18" charset="2"/>
              </a:rPr>
              <a:t>P</a:t>
            </a:r>
            <a:r>
              <a:rPr lang="en-US" altLang="zh-CN" sz="2000" baseline="-25000" dirty="0">
                <a:sym typeface="Symbol" panose="05050102010706020507" pitchFamily="18" charset="2"/>
              </a:rPr>
              <a:t>j</a:t>
            </a:r>
            <a:r>
              <a:rPr lang="en-US" altLang="zh-CN" sz="2000" dirty="0">
                <a:sym typeface="Symbol" panose="05050102010706020507" pitchFamily="18" charset="2"/>
              </a:rPr>
              <a:t>=</a:t>
            </a:r>
            <a:r>
              <a:rPr lang="en-US" altLang="zh-CN" sz="2000" i="1" dirty="0">
                <a:sym typeface="Symbol" panose="05050102010706020507" pitchFamily="18" charset="2"/>
              </a:rPr>
              <a:t>p</a:t>
            </a:r>
            <a:r>
              <a:rPr lang="en-US" altLang="zh-CN" sz="2000" baseline="-25000" dirty="0">
                <a:sym typeface="Symbol" panose="05050102010706020507" pitchFamily="18" charset="2"/>
              </a:rPr>
              <a:t>(j)</a:t>
            </a:r>
            <a:r>
              <a:rPr lang="en-US" altLang="zh-CN" sz="2000" dirty="0">
                <a:sym typeface="Symbol" panose="05050102010706020507" pitchFamily="18" charset="2"/>
              </a:rPr>
              <a:t> if job </a:t>
            </a:r>
            <a:r>
              <a:rPr lang="en-US" altLang="zh-CN" sz="2000" i="1" dirty="0">
                <a:sym typeface="Symbol" panose="05050102010706020507" pitchFamily="18" charset="2"/>
              </a:rPr>
              <a:t>J</a:t>
            </a:r>
            <a:r>
              <a:rPr lang="en-US" altLang="zh-CN" sz="2000" baseline="-25000" dirty="0">
                <a:sym typeface="Symbol" panose="05050102010706020507" pitchFamily="18" charset="2"/>
              </a:rPr>
              <a:t>(j)</a:t>
            </a:r>
            <a:r>
              <a:rPr lang="en-US" altLang="zh-CN" sz="2000" dirty="0">
                <a:sym typeface="Symbol" panose="05050102010706020507" pitchFamily="18" charset="2"/>
              </a:rPr>
              <a:t> misses the deadline, otherwise it is 0.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sym typeface="Symbol" panose="05050102010706020507" pitchFamily="18" charset="2"/>
              </a:rPr>
              <a:t>Optimization problem: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sym typeface="Symbol" panose="05050102010706020507" pitchFamily="18" charset="2"/>
              </a:rPr>
              <a:t>Determine the minimum possible penalty.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sym typeface="Symbol" panose="05050102010706020507" pitchFamily="18" charset="2"/>
              </a:rPr>
              <a:t>Decision problem: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sym typeface="Symbol" panose="05050102010706020507" pitchFamily="18" charset="2"/>
              </a:rPr>
              <a:t>Given a nonnegative integer </a:t>
            </a:r>
            <a:r>
              <a:rPr lang="en-US" altLang="zh-CN" sz="2000" i="1" dirty="0">
                <a:sym typeface="Symbol" panose="05050102010706020507" pitchFamily="18" charset="2"/>
              </a:rPr>
              <a:t>k</a:t>
            </a:r>
            <a:r>
              <a:rPr lang="en-US" altLang="zh-CN" sz="2000" dirty="0">
                <a:sym typeface="Symbol" panose="05050102010706020507" pitchFamily="18" charset="2"/>
              </a:rPr>
              <a:t>, is there a schedule with </a:t>
            </a:r>
            <a:r>
              <a:rPr lang="en-US" altLang="zh-CN" sz="2000" i="1" dirty="0">
                <a:sym typeface="Symbol" panose="05050102010706020507" pitchFamily="18" charset="2"/>
              </a:rPr>
              <a:t>P</a:t>
            </a:r>
            <a:r>
              <a:rPr lang="en-US" altLang="zh-CN" sz="2000" baseline="-25000" dirty="0">
                <a:sym typeface="Symbol" panose="05050102010706020507" pitchFamily="18" charset="2"/>
              </a:rPr>
              <a:t></a:t>
            </a:r>
            <a:r>
              <a:rPr lang="en-US" altLang="zh-CN" sz="2000" dirty="0">
                <a:sym typeface="Symbol" panose="05050102010706020507" pitchFamily="18" charset="2"/>
              </a:rPr>
              <a:t></a:t>
            </a:r>
            <a:r>
              <a:rPr lang="en-US" altLang="zh-CN" sz="2000" i="1" dirty="0">
                <a:sym typeface="Symbol" panose="05050102010706020507" pitchFamily="18" charset="2"/>
              </a:rPr>
              <a:t>k</a:t>
            </a:r>
            <a:r>
              <a:rPr lang="en-US" altLang="zh-CN" sz="2000" dirty="0">
                <a:sym typeface="Symbol" panose="05050102010706020507" pitchFamily="18" charset="2"/>
              </a:rPr>
              <a:t>?            </a:t>
            </a:r>
          </a:p>
        </p:txBody>
      </p:sp>
      <p:graphicFrame>
        <p:nvGraphicFramePr>
          <p:cNvPr id="28676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646238" y="3608388"/>
          <a:ext cx="13938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" name="公式" r:id="rId3" imgW="774364" imgH="520474" progId="Equation.3">
                  <p:embed/>
                </p:oleObj>
              </mc:Choice>
              <mc:Fallback>
                <p:oleObj name="公式" r:id="rId3" imgW="774364" imgH="520474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238" y="3608388"/>
                        <a:ext cx="139382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28613" y="216023"/>
            <a:ext cx="80375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Subset Sum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≤</a:t>
            </a:r>
            <a:r>
              <a:rPr lang="en-US" altLang="zh-CN" sz="2400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solidFill>
                  <a:srgbClr val="FF0000"/>
                </a:solidFill>
              </a:rPr>
              <a:t> Job Scheduling</a:t>
            </a:r>
          </a:p>
        </p:txBody>
      </p:sp>
    </p:spTree>
    <p:extLst>
      <p:ext uri="{BB962C8B-B14F-4D97-AF65-F5344CB8AC3E}">
        <p14:creationId xmlns:p14="http://schemas.microsoft.com/office/powerpoint/2010/main" val="4469136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8" descr="信纸"/>
          <p:cNvSpPr>
            <a:spLocks noChangeArrowheads="1"/>
          </p:cNvSpPr>
          <p:nvPr/>
        </p:nvSpPr>
        <p:spPr bwMode="auto">
          <a:xfrm>
            <a:off x="206375" y="3384550"/>
            <a:ext cx="8640763" cy="3194050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 w="57150" cmpd="thinThick">
            <a:solidFill>
              <a:srgbClr val="CC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798513"/>
            <a:ext cx="8637588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3900"/>
              <a:t>Reduction of the Subset Sum Problem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006600"/>
                </a:solidFill>
              </a:rPr>
              <a:t>The subset sum problem is reducible to the job scheduling problem</a:t>
            </a:r>
            <a:r>
              <a:rPr lang="en-US" altLang="zh-CN" sz="2800"/>
              <a:t>.</a:t>
            </a:r>
          </a:p>
          <a:p>
            <a:pPr eaLnBrk="1" hangingPunct="1"/>
            <a:r>
              <a:rPr lang="en-US" altLang="zh-CN" sz="2800"/>
              <a:t>Transformation: </a:t>
            </a:r>
          </a:p>
        </p:txBody>
      </p:sp>
      <p:graphicFrame>
        <p:nvGraphicFramePr>
          <p:cNvPr id="29701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22288" y="3698875"/>
          <a:ext cx="801052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0" name="公式" r:id="rId5" imgW="4089400" imgH="241300" progId="Equation.3">
                  <p:embed/>
                </p:oleObj>
              </mc:Choice>
              <mc:Fallback>
                <p:oleObj name="公式" r:id="rId5" imgW="4089400" imgH="2413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288" y="3698875"/>
                        <a:ext cx="801052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927100" y="4238625"/>
          <a:ext cx="7380288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" name="公式" r:id="rId7" imgW="2870200" imgH="1079500" progId="Equation.3">
                  <p:embed/>
                </p:oleObj>
              </mc:Choice>
              <mc:Fallback>
                <p:oleObj name="公式" r:id="rId7" imgW="2870200" imgH="10795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4238625"/>
                        <a:ext cx="7380288" cy="215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" name="Line 10"/>
          <p:cNvSpPr>
            <a:spLocks noChangeShapeType="1"/>
          </p:cNvSpPr>
          <p:nvPr/>
        </p:nvSpPr>
        <p:spPr bwMode="auto">
          <a:xfrm flipH="1" flipV="1">
            <a:off x="2411413" y="4643438"/>
            <a:ext cx="2746375" cy="1260475"/>
          </a:xfrm>
          <a:prstGeom prst="line">
            <a:avLst/>
          </a:prstGeom>
          <a:noFill/>
          <a:ln w="25400">
            <a:solidFill>
              <a:srgbClr val="339966"/>
            </a:solidFill>
            <a:prstDash val="lg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704" name="Text Box 9"/>
          <p:cNvSpPr txBox="1">
            <a:spLocks noChangeArrowheads="1"/>
          </p:cNvSpPr>
          <p:nvPr/>
        </p:nvSpPr>
        <p:spPr bwMode="auto">
          <a:xfrm>
            <a:off x="5111750" y="5768975"/>
            <a:ext cx="2746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6600"/>
                </a:solidFill>
              </a:rPr>
              <a:t>always output NO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28613" y="216023"/>
            <a:ext cx="80375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Subset Sum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≤</a:t>
            </a:r>
            <a:r>
              <a:rPr lang="en-US" altLang="zh-CN" sz="2400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solidFill>
                  <a:srgbClr val="FF0000"/>
                </a:solidFill>
              </a:rPr>
              <a:t> Job Scheduling</a:t>
            </a:r>
          </a:p>
        </p:txBody>
      </p:sp>
    </p:spTree>
    <p:extLst>
      <p:ext uri="{BB962C8B-B14F-4D97-AF65-F5344CB8AC3E}">
        <p14:creationId xmlns:p14="http://schemas.microsoft.com/office/powerpoint/2010/main" val="3018353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1"/>
          <p:cNvSpPr>
            <a:spLocks noChangeArrowheads="1"/>
          </p:cNvSpPr>
          <p:nvPr/>
        </p:nvSpPr>
        <p:spPr bwMode="auto">
          <a:xfrm>
            <a:off x="1331913" y="5454650"/>
            <a:ext cx="6075362" cy="1079500"/>
          </a:xfrm>
          <a:prstGeom prst="rect">
            <a:avLst/>
          </a:prstGeom>
          <a:solidFill>
            <a:srgbClr val="CCFFCC"/>
          </a:solidFill>
          <a:ln w="57150" cmpd="thinThick">
            <a:solidFill>
              <a:srgbClr val="99CC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798513"/>
            <a:ext cx="8637588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3900"/>
              <a:t>Reduction of the Subset Sum Problem</a:t>
            </a:r>
            <a:endParaRPr lang="zh-CN" altLang="en-US" sz="3900"/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476250" y="1719263"/>
            <a:ext cx="8370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Let (</a:t>
            </a:r>
            <a:r>
              <a:rPr lang="en-US" altLang="zh-CN" sz="2400" i="1"/>
              <a:t>s</a:t>
            </a:r>
            <a:r>
              <a:rPr lang="en-US" altLang="zh-CN" sz="2400" baseline="-25000"/>
              <a:t>1</a:t>
            </a:r>
            <a:r>
              <a:rPr lang="en-US" altLang="zh-CN" sz="2400"/>
              <a:t>,</a:t>
            </a:r>
            <a:r>
              <a:rPr lang="en-US" altLang="zh-CN" sz="2400" i="1"/>
              <a:t>s</a:t>
            </a:r>
            <a:r>
              <a:rPr lang="en-US" altLang="zh-CN" sz="2400" baseline="-25000"/>
              <a:t>2</a:t>
            </a:r>
            <a:r>
              <a:rPr lang="en-US" altLang="zh-CN" sz="2400"/>
              <a:t>,…,</a:t>
            </a:r>
            <a:r>
              <a:rPr lang="en-US" altLang="zh-CN" sz="2400" i="1"/>
              <a:t>s</a:t>
            </a:r>
            <a:r>
              <a:rPr lang="en-US" altLang="zh-CN" sz="2400" baseline="-25000"/>
              <a:t>n</a:t>
            </a:r>
            <a:r>
              <a:rPr lang="en-US" altLang="zh-CN" sz="2400"/>
              <a:t>,</a:t>
            </a:r>
            <a:r>
              <a:rPr lang="en-US" altLang="zh-CN" sz="2400" i="1"/>
              <a:t>C</a:t>
            </a:r>
            <a:r>
              <a:rPr lang="en-US" altLang="zh-CN" sz="2400"/>
              <a:t>) be a </a:t>
            </a:r>
            <a:r>
              <a:rPr lang="en-US" altLang="zh-CN" sz="2400" b="1" i="1">
                <a:solidFill>
                  <a:srgbClr val="006600"/>
                </a:solidFill>
              </a:rPr>
              <a:t>yes-</a:t>
            </a:r>
            <a:r>
              <a:rPr lang="en-US" altLang="zh-CN" sz="2400" b="1">
                <a:solidFill>
                  <a:srgbClr val="006600"/>
                </a:solidFill>
              </a:rPr>
              <a:t>input for subset sum problem</a:t>
            </a:r>
            <a:r>
              <a:rPr lang="en-US" altLang="zh-CN" sz="2400"/>
              <a:t>, that is:</a:t>
            </a:r>
          </a:p>
        </p:txBody>
      </p:sp>
      <p:sp>
        <p:nvSpPr>
          <p:cNvPr id="31749" name="Text Box 7"/>
          <p:cNvSpPr txBox="1">
            <a:spLocks noChangeArrowheads="1"/>
          </p:cNvSpPr>
          <p:nvPr/>
        </p:nvSpPr>
        <p:spPr bwMode="auto">
          <a:xfrm>
            <a:off x="2322513" y="2168525"/>
            <a:ext cx="4905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where </a:t>
            </a:r>
            <a:r>
              <a:rPr lang="en-US" altLang="zh-CN" sz="2400" i="1"/>
              <a:t>J</a:t>
            </a:r>
            <a:r>
              <a:rPr lang="en-US" altLang="zh-CN" sz="2400">
                <a:sym typeface="Symbol" panose="05050102010706020507" pitchFamily="18" charset="2"/>
              </a:rPr>
              <a:t>{1,2,…,</a:t>
            </a:r>
            <a:r>
              <a:rPr lang="en-US" altLang="zh-CN" sz="2400" i="1">
                <a:sym typeface="Symbol" panose="05050102010706020507" pitchFamily="18" charset="2"/>
              </a:rPr>
              <a:t>n</a:t>
            </a:r>
            <a:r>
              <a:rPr lang="en-US" altLang="zh-CN" sz="2400">
                <a:sym typeface="Symbol" panose="05050102010706020507" pitchFamily="18" charset="2"/>
              </a:rPr>
              <a:t>}</a:t>
            </a:r>
          </a:p>
        </p:txBody>
      </p:sp>
      <p:sp>
        <p:nvSpPr>
          <p:cNvPr id="31750" name="Rectangle 10"/>
          <p:cNvSpPr>
            <a:spLocks noChangeArrowheads="1"/>
          </p:cNvSpPr>
          <p:nvPr/>
        </p:nvSpPr>
        <p:spPr bwMode="auto">
          <a:xfrm>
            <a:off x="296863" y="3024188"/>
            <a:ext cx="8596312" cy="121443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1751" name="Text Box 8"/>
          <p:cNvSpPr txBox="1">
            <a:spLocks noChangeArrowheads="1"/>
          </p:cNvSpPr>
          <p:nvPr/>
        </p:nvSpPr>
        <p:spPr bwMode="auto">
          <a:xfrm>
            <a:off x="296863" y="3024188"/>
            <a:ext cx="855186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/>
              <a:t>By the definition of the reduction, the input for scheduling problem is </a:t>
            </a:r>
            <a:r>
              <a:rPr lang="en-US" altLang="zh-CN" sz="2400" dirty="0">
                <a:solidFill>
                  <a:schemeClr val="tx2"/>
                </a:solidFill>
              </a:rPr>
              <a:t>(</a:t>
            </a:r>
            <a:r>
              <a:rPr lang="en-US" altLang="zh-CN" sz="2400" i="1" dirty="0">
                <a:solidFill>
                  <a:schemeClr val="tx2"/>
                </a:solidFill>
              </a:rPr>
              <a:t>s</a:t>
            </a:r>
            <a:r>
              <a:rPr lang="en-US" altLang="zh-CN" sz="2400" baseline="-25000" dirty="0">
                <a:solidFill>
                  <a:schemeClr val="tx2"/>
                </a:solidFill>
              </a:rPr>
              <a:t>1</a:t>
            </a:r>
            <a:r>
              <a:rPr lang="en-US" altLang="zh-CN" sz="2400" dirty="0">
                <a:solidFill>
                  <a:schemeClr val="tx2"/>
                </a:solidFill>
              </a:rPr>
              <a:t>,</a:t>
            </a:r>
            <a:r>
              <a:rPr lang="en-US" altLang="zh-CN" sz="2400" i="1" dirty="0">
                <a:solidFill>
                  <a:schemeClr val="tx2"/>
                </a:solidFill>
              </a:rPr>
              <a:t>s</a:t>
            </a:r>
            <a:r>
              <a:rPr lang="en-US" altLang="zh-CN" sz="2400" baseline="-25000" dirty="0">
                <a:solidFill>
                  <a:schemeClr val="tx2"/>
                </a:solidFill>
              </a:rPr>
              <a:t>2</a:t>
            </a:r>
            <a:r>
              <a:rPr lang="en-US" altLang="zh-CN" sz="2400" dirty="0">
                <a:solidFill>
                  <a:schemeClr val="tx2"/>
                </a:solidFill>
              </a:rPr>
              <a:t>,…,</a:t>
            </a:r>
            <a:r>
              <a:rPr lang="en-US" altLang="zh-CN" sz="2400" i="1" dirty="0" err="1">
                <a:solidFill>
                  <a:schemeClr val="tx2"/>
                </a:solidFill>
              </a:rPr>
              <a:t>s</a:t>
            </a:r>
            <a:r>
              <a:rPr lang="en-US" altLang="zh-CN" sz="2400" baseline="-25000" dirty="0" err="1">
                <a:solidFill>
                  <a:schemeClr val="tx2"/>
                </a:solidFill>
              </a:rPr>
              <a:t>n</a:t>
            </a:r>
            <a:r>
              <a:rPr lang="en-US" altLang="zh-CN" sz="2400" dirty="0" err="1">
                <a:solidFill>
                  <a:schemeClr val="tx2"/>
                </a:solidFill>
              </a:rPr>
              <a:t>,</a:t>
            </a:r>
            <a:r>
              <a:rPr lang="en-US" altLang="zh-CN" sz="2400" i="1" dirty="0" err="1">
                <a:solidFill>
                  <a:schemeClr val="tx2"/>
                </a:solidFill>
              </a:rPr>
              <a:t>C</a:t>
            </a:r>
            <a:r>
              <a:rPr lang="en-US" altLang="zh-CN" sz="2400" dirty="0" err="1">
                <a:solidFill>
                  <a:schemeClr val="tx2"/>
                </a:solidFill>
              </a:rPr>
              <a:t>,</a:t>
            </a:r>
            <a:r>
              <a:rPr lang="en-US" altLang="zh-CN" sz="2400" i="1" dirty="0" err="1">
                <a:solidFill>
                  <a:schemeClr val="tx2"/>
                </a:solidFill>
              </a:rPr>
              <a:t>C</a:t>
            </a:r>
            <a:r>
              <a:rPr lang="en-US" altLang="zh-CN" sz="2400" dirty="0">
                <a:solidFill>
                  <a:schemeClr val="tx2"/>
                </a:solidFill>
              </a:rPr>
              <a:t>,…,</a:t>
            </a:r>
            <a:r>
              <a:rPr lang="en-US" altLang="zh-CN" sz="2400" i="1" dirty="0">
                <a:solidFill>
                  <a:schemeClr val="tx2"/>
                </a:solidFill>
              </a:rPr>
              <a:t>C</a:t>
            </a:r>
            <a:r>
              <a:rPr lang="en-US" altLang="zh-CN" sz="2400" dirty="0">
                <a:solidFill>
                  <a:schemeClr val="tx2"/>
                </a:solidFill>
              </a:rPr>
              <a:t>, </a:t>
            </a:r>
            <a:r>
              <a:rPr lang="en-US" altLang="zh-CN" sz="2400" i="1" dirty="0">
                <a:solidFill>
                  <a:schemeClr val="tx2"/>
                </a:solidFill>
              </a:rPr>
              <a:t>s</a:t>
            </a:r>
            <a:r>
              <a:rPr lang="en-US" altLang="zh-CN" sz="2400" baseline="-25000" dirty="0">
                <a:solidFill>
                  <a:schemeClr val="tx2"/>
                </a:solidFill>
              </a:rPr>
              <a:t>1</a:t>
            </a:r>
            <a:r>
              <a:rPr lang="en-US" altLang="zh-CN" sz="2400" dirty="0">
                <a:solidFill>
                  <a:schemeClr val="tx2"/>
                </a:solidFill>
              </a:rPr>
              <a:t>,</a:t>
            </a:r>
            <a:r>
              <a:rPr lang="en-US" altLang="zh-CN" sz="2400" i="1" dirty="0">
                <a:solidFill>
                  <a:schemeClr val="tx2"/>
                </a:solidFill>
              </a:rPr>
              <a:t>s</a:t>
            </a:r>
            <a:r>
              <a:rPr lang="en-US" altLang="zh-CN" sz="2400" baseline="-25000" dirty="0">
                <a:solidFill>
                  <a:schemeClr val="tx2"/>
                </a:solidFill>
              </a:rPr>
              <a:t>2</a:t>
            </a:r>
            <a:r>
              <a:rPr lang="en-US" altLang="zh-CN" sz="2400" dirty="0">
                <a:solidFill>
                  <a:schemeClr val="tx2"/>
                </a:solidFill>
              </a:rPr>
              <a:t>,…,</a:t>
            </a:r>
            <a:r>
              <a:rPr lang="en-US" altLang="zh-CN" sz="2400" i="1" dirty="0" err="1">
                <a:solidFill>
                  <a:schemeClr val="tx2"/>
                </a:solidFill>
              </a:rPr>
              <a:t>s</a:t>
            </a:r>
            <a:r>
              <a:rPr lang="en-US" altLang="zh-CN" sz="2400" baseline="-25000" dirty="0" err="1">
                <a:solidFill>
                  <a:schemeClr val="tx2"/>
                </a:solidFill>
              </a:rPr>
              <a:t>n</a:t>
            </a:r>
            <a:r>
              <a:rPr lang="en-US" altLang="zh-CN" sz="2400" dirty="0" err="1">
                <a:solidFill>
                  <a:schemeClr val="tx2"/>
                </a:solidFill>
              </a:rPr>
              <a:t>,</a:t>
            </a:r>
            <a:r>
              <a:rPr lang="en-US" altLang="zh-CN" sz="2400" i="1" dirty="0" err="1">
                <a:solidFill>
                  <a:schemeClr val="tx2"/>
                </a:solidFill>
              </a:rPr>
              <a:t>S</a:t>
            </a:r>
            <a:r>
              <a:rPr lang="en-US" altLang="zh-CN" sz="2400" dirty="0">
                <a:solidFill>
                  <a:schemeClr val="tx2"/>
                </a:solidFill>
              </a:rPr>
              <a:t>-</a:t>
            </a:r>
            <a:r>
              <a:rPr lang="en-US" altLang="zh-CN" sz="2400" i="1" dirty="0">
                <a:solidFill>
                  <a:schemeClr val="tx2"/>
                </a:solidFill>
              </a:rPr>
              <a:t>C</a:t>
            </a:r>
            <a:r>
              <a:rPr lang="en-US" altLang="zh-CN" sz="2400" dirty="0">
                <a:solidFill>
                  <a:schemeClr val="tx2"/>
                </a:solidFill>
              </a:rPr>
              <a:t>)</a:t>
            </a:r>
            <a:r>
              <a:rPr lang="en-US" altLang="zh-CN" sz="2400" dirty="0"/>
              <a:t>. Constructing a scheduling </a:t>
            </a:r>
            <a:r>
              <a:rPr lang="en-US" altLang="zh-CN" sz="2400" dirty="0">
                <a:sym typeface="Symbol" panose="05050102010706020507" pitchFamily="18" charset="2"/>
              </a:rPr>
              <a:t></a:t>
            </a:r>
            <a:r>
              <a:rPr lang="en-US" altLang="zh-CN" sz="2400" dirty="0"/>
              <a:t> such that </a:t>
            </a:r>
            <a:r>
              <a:rPr lang="en-US" altLang="zh-CN" sz="2400" b="1" dirty="0">
                <a:solidFill>
                  <a:srgbClr val="0000CC"/>
                </a:solidFill>
              </a:rPr>
              <a:t>{</a:t>
            </a:r>
            <a:r>
              <a:rPr lang="en-US" altLang="zh-CN" sz="2400" b="1" dirty="0">
                <a:solidFill>
                  <a:srgbClr val="0000CC"/>
                </a:solidFill>
                <a:sym typeface="Symbol" panose="05050102010706020507" pitchFamily="18" charset="2"/>
              </a:rPr>
              <a:t>(1), (2),…, (|</a:t>
            </a:r>
            <a:r>
              <a:rPr lang="en-US" altLang="zh-CN" sz="2400" b="1" i="1" dirty="0">
                <a:solidFill>
                  <a:srgbClr val="0000CC"/>
                </a:solidFill>
                <a:sym typeface="Symbol" panose="05050102010706020507" pitchFamily="18" charset="2"/>
              </a:rPr>
              <a:t>J</a:t>
            </a:r>
            <a:r>
              <a:rPr lang="en-US" altLang="zh-CN" sz="2400" b="1" dirty="0">
                <a:solidFill>
                  <a:srgbClr val="0000CC"/>
                </a:solidFill>
                <a:sym typeface="Symbol" panose="05050102010706020507" pitchFamily="18" charset="2"/>
              </a:rPr>
              <a:t>|)} is exactly </a:t>
            </a:r>
            <a:r>
              <a:rPr lang="en-US" altLang="zh-CN" sz="2400" b="1" i="1" dirty="0">
                <a:solidFill>
                  <a:srgbClr val="0000CC"/>
                </a:solidFill>
                <a:sym typeface="Symbol" panose="05050102010706020507" pitchFamily="18" charset="2"/>
              </a:rPr>
              <a:t>J</a:t>
            </a:r>
            <a:r>
              <a:rPr lang="en-US" altLang="zh-CN" sz="2400" i="1" dirty="0">
                <a:sym typeface="Symbol" panose="05050102010706020507" pitchFamily="18" charset="2"/>
              </a:rPr>
              <a:t>.</a:t>
            </a:r>
            <a:endParaRPr lang="en-US" altLang="zh-CN" sz="2400" dirty="0">
              <a:sym typeface="Symbol" panose="05050102010706020507" pitchFamily="18" charset="2"/>
            </a:endParaRPr>
          </a:p>
        </p:txBody>
      </p:sp>
      <p:sp>
        <p:nvSpPr>
          <p:cNvPr id="31752" name="Text Box 11"/>
          <p:cNvSpPr txBox="1">
            <a:spLocks noChangeArrowheads="1"/>
          </p:cNvSpPr>
          <p:nvPr/>
        </p:nvSpPr>
        <p:spPr bwMode="auto">
          <a:xfrm>
            <a:off x="341313" y="4419600"/>
            <a:ext cx="7966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Since              , the first |</a:t>
            </a:r>
            <a:r>
              <a:rPr lang="en-US" altLang="zh-CN" sz="2400" i="1"/>
              <a:t>J</a:t>
            </a:r>
            <a:r>
              <a:rPr lang="en-US" altLang="zh-CN" sz="2400"/>
              <a:t>| jobs don’t miss their deadlines.</a:t>
            </a:r>
          </a:p>
        </p:txBody>
      </p:sp>
      <p:graphicFrame>
        <p:nvGraphicFramePr>
          <p:cNvPr id="31753" name="Object 16"/>
          <p:cNvGraphicFramePr>
            <a:graphicFrameLocks noChangeAspect="1"/>
          </p:cNvGraphicFramePr>
          <p:nvPr/>
        </p:nvGraphicFramePr>
        <p:xfrm>
          <a:off x="1062038" y="4419600"/>
          <a:ext cx="1125537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3" name="公式" r:id="rId3" imgW="672808" imgH="380835" progId="Equation.3">
                  <p:embed/>
                </p:oleObj>
              </mc:Choice>
              <mc:Fallback>
                <p:oleObj name="公式" r:id="rId3" imgW="672808" imgH="3808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038" y="4419600"/>
                        <a:ext cx="1125537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4" name="Text Box 18"/>
          <p:cNvSpPr txBox="1">
            <a:spLocks noChangeArrowheads="1"/>
          </p:cNvSpPr>
          <p:nvPr/>
        </p:nvSpPr>
        <p:spPr bwMode="auto">
          <a:xfrm>
            <a:off x="296863" y="4914900"/>
            <a:ext cx="8010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So, the total penalty, i.e. the penalty for the remaining jobs is:</a:t>
            </a:r>
          </a:p>
        </p:txBody>
      </p:sp>
      <p:graphicFrame>
        <p:nvGraphicFramePr>
          <p:cNvPr id="31755" name="Object 19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422400" y="5589588"/>
          <a:ext cx="5761038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" name="公式" r:id="rId5" imgW="3022600" imgH="520700" progId="Equation.3">
                  <p:embed/>
                </p:oleObj>
              </mc:Choice>
              <mc:Fallback>
                <p:oleObj name="公式" r:id="rId5" imgW="3022600" imgH="5207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5589588"/>
                        <a:ext cx="5761038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6" name="Object 23"/>
          <p:cNvGraphicFramePr>
            <a:graphicFrameLocks noGrp="1" noChangeAspect="1"/>
          </p:cNvGraphicFramePr>
          <p:nvPr>
            <p:ph idx="1"/>
          </p:nvPr>
        </p:nvGraphicFramePr>
        <p:xfrm>
          <a:off x="971550" y="2214563"/>
          <a:ext cx="1331913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" name="公式" r:id="rId7" imgW="672808" imgH="380835" progId="Equation.3">
                  <p:embed/>
                </p:oleObj>
              </mc:Choice>
              <mc:Fallback>
                <p:oleObj name="公式" r:id="rId7" imgW="672808" imgH="380835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214563"/>
                        <a:ext cx="1331913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28613" y="216023"/>
            <a:ext cx="80375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Subset Sum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≤</a:t>
            </a:r>
            <a:r>
              <a:rPr lang="en-US" altLang="zh-CN" sz="2400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solidFill>
                  <a:srgbClr val="FF0000"/>
                </a:solidFill>
              </a:rPr>
              <a:t> Job Scheduling</a:t>
            </a:r>
          </a:p>
        </p:txBody>
      </p:sp>
    </p:spTree>
    <p:extLst>
      <p:ext uri="{BB962C8B-B14F-4D97-AF65-F5344CB8AC3E}">
        <p14:creationId xmlns:p14="http://schemas.microsoft.com/office/powerpoint/2010/main" val="27641856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1"/>
          <p:cNvSpPr>
            <a:spLocks noChangeArrowheads="1"/>
          </p:cNvSpPr>
          <p:nvPr/>
        </p:nvSpPr>
        <p:spPr bwMode="auto">
          <a:xfrm>
            <a:off x="250825" y="2798763"/>
            <a:ext cx="8642350" cy="270033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798513"/>
            <a:ext cx="8637588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3900"/>
              <a:t>Reduction of the Subset Sum Problem</a:t>
            </a:r>
            <a:endParaRPr lang="zh-CN" altLang="en-US" sz="3900"/>
          </a:p>
        </p:txBody>
      </p:sp>
      <p:graphicFrame>
        <p:nvGraphicFramePr>
          <p:cNvPr id="32772" name="Object 30"/>
          <p:cNvGraphicFramePr>
            <a:graphicFrameLocks noGrp="1" noChangeAspect="1"/>
          </p:cNvGraphicFramePr>
          <p:nvPr>
            <p:ph sz="half" idx="1"/>
          </p:nvPr>
        </p:nvGraphicFramePr>
        <p:xfrm>
          <a:off x="8020050" y="3203575"/>
          <a:ext cx="62388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7" name="公式" r:id="rId3" imgW="380835" imgH="495085" progId="Equation.3">
                  <p:embed/>
                </p:oleObj>
              </mc:Choice>
              <mc:Fallback>
                <p:oleObj name="公式" r:id="rId3" imgW="380835" imgH="495085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0050" y="3203575"/>
                        <a:ext cx="623888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3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016000" y="4508500"/>
          <a:ext cx="2790825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8" name="公式" r:id="rId5" imgW="1485255" imgH="495085" progId="Equation.3">
                  <p:embed/>
                </p:oleObj>
              </mc:Choice>
              <mc:Fallback>
                <p:oleObj name="公式" r:id="rId5" imgW="1485255" imgH="495085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0" y="4508500"/>
                        <a:ext cx="2790825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Text Box 4"/>
          <p:cNvSpPr txBox="1">
            <a:spLocks noChangeArrowheads="1"/>
          </p:cNvSpPr>
          <p:nvPr/>
        </p:nvSpPr>
        <p:spPr bwMode="auto">
          <a:xfrm>
            <a:off x="250825" y="1763713"/>
            <a:ext cx="85963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Let </a:t>
            </a:r>
            <a:r>
              <a:rPr lang="en-US" altLang="zh-CN" sz="2400">
                <a:sym typeface="Symbol" panose="05050102010706020507" pitchFamily="18" charset="2"/>
              </a:rPr>
              <a:t> be a </a:t>
            </a:r>
            <a:r>
              <a:rPr lang="en-US" altLang="zh-CN" sz="2400" b="1" i="1">
                <a:solidFill>
                  <a:srgbClr val="006600"/>
                </a:solidFill>
                <a:sym typeface="Symbol" panose="05050102010706020507" pitchFamily="18" charset="2"/>
              </a:rPr>
              <a:t>yes</a:t>
            </a:r>
            <a:r>
              <a:rPr lang="en-US" altLang="zh-CN" sz="2400" b="1">
                <a:solidFill>
                  <a:srgbClr val="006600"/>
                </a:solidFill>
                <a:sym typeface="Symbol" panose="05050102010706020507" pitchFamily="18" charset="2"/>
              </a:rPr>
              <a:t>-input for scheduling problem</a:t>
            </a:r>
            <a:r>
              <a:rPr lang="en-US" altLang="zh-CN" sz="2400">
                <a:sym typeface="Symbol" panose="05050102010706020507" pitchFamily="18" charset="2"/>
              </a:rPr>
              <a:t>, i.e. the total penalty is no more than </a:t>
            </a:r>
            <a:r>
              <a:rPr lang="en-US" altLang="zh-CN" sz="2400" i="1">
                <a:sym typeface="Symbol" panose="05050102010706020507" pitchFamily="18" charset="2"/>
              </a:rPr>
              <a:t>k</a:t>
            </a:r>
            <a:r>
              <a:rPr lang="en-US" altLang="zh-CN" sz="2400">
                <a:sym typeface="Symbol" panose="05050102010706020507" pitchFamily="18" charset="2"/>
              </a:rPr>
              <a:t>=</a:t>
            </a:r>
            <a:r>
              <a:rPr lang="en-US" altLang="zh-CN" sz="2400" i="1">
                <a:sym typeface="Symbol" panose="05050102010706020507" pitchFamily="18" charset="2"/>
              </a:rPr>
              <a:t>S</a:t>
            </a:r>
            <a:r>
              <a:rPr lang="en-US" altLang="zh-CN" sz="2400">
                <a:sym typeface="Symbol" panose="05050102010706020507" pitchFamily="18" charset="2"/>
              </a:rPr>
              <a:t>-</a:t>
            </a:r>
            <a:r>
              <a:rPr lang="en-US" altLang="zh-CN" sz="2400" i="1">
                <a:sym typeface="Symbol" panose="05050102010706020507" pitchFamily="18" charset="2"/>
              </a:rPr>
              <a:t>C</a:t>
            </a:r>
            <a:r>
              <a:rPr lang="en-US" altLang="zh-CN" sz="2400">
                <a:sym typeface="Symbol" panose="05050102010706020507" pitchFamily="18" charset="2"/>
              </a:rPr>
              <a:t>. Let </a:t>
            </a:r>
            <a:r>
              <a:rPr lang="en-US" altLang="zh-CN" sz="2400" i="1">
                <a:sym typeface="Symbol" panose="05050102010706020507" pitchFamily="18" charset="2"/>
              </a:rPr>
              <a:t>m</a:t>
            </a:r>
            <a:r>
              <a:rPr lang="en-US" altLang="zh-CN" sz="2400">
                <a:sym typeface="Symbol" panose="05050102010706020507" pitchFamily="18" charset="2"/>
              </a:rPr>
              <a:t> jobs are completed by deadline </a:t>
            </a:r>
            <a:r>
              <a:rPr lang="en-US" altLang="zh-CN" sz="2400" i="1">
                <a:sym typeface="Symbol" panose="05050102010706020507" pitchFamily="18" charset="2"/>
              </a:rPr>
              <a:t>C.</a:t>
            </a:r>
            <a:endParaRPr lang="en-US" altLang="zh-CN" sz="2400" b="1" i="1">
              <a:solidFill>
                <a:srgbClr val="006600"/>
              </a:solidFill>
              <a:sym typeface="Symbol" panose="05050102010706020507" pitchFamily="18" charset="2"/>
            </a:endParaRPr>
          </a:p>
        </p:txBody>
      </p:sp>
      <p:sp>
        <p:nvSpPr>
          <p:cNvPr id="32775" name="Text Box 5"/>
          <p:cNvSpPr txBox="1">
            <a:spLocks noChangeArrowheads="1"/>
          </p:cNvSpPr>
          <p:nvPr/>
        </p:nvSpPr>
        <p:spPr bwMode="auto">
          <a:xfrm>
            <a:off x="476250" y="2889250"/>
            <a:ext cx="3016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The situation is:</a:t>
            </a:r>
          </a:p>
        </p:txBody>
      </p:sp>
      <p:sp>
        <p:nvSpPr>
          <p:cNvPr id="32776" name="Rectangle 6"/>
          <p:cNvSpPr>
            <a:spLocks noChangeArrowheads="1"/>
          </p:cNvSpPr>
          <p:nvPr/>
        </p:nvSpPr>
        <p:spPr bwMode="auto">
          <a:xfrm>
            <a:off x="385763" y="4014788"/>
            <a:ext cx="3735387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2777" name="Rectangle 7" descr="深色上对角线"/>
          <p:cNvSpPr>
            <a:spLocks noChangeArrowheads="1"/>
          </p:cNvSpPr>
          <p:nvPr/>
        </p:nvSpPr>
        <p:spPr bwMode="auto">
          <a:xfrm>
            <a:off x="4122738" y="4014788"/>
            <a:ext cx="223837" cy="539750"/>
          </a:xfrm>
          <a:prstGeom prst="rect">
            <a:avLst/>
          </a:prstGeom>
          <a:pattFill prst="dkUpDiag">
            <a:fgClr>
              <a:srgbClr val="777777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2778" name="Line 8"/>
          <p:cNvSpPr>
            <a:spLocks noChangeShapeType="1"/>
          </p:cNvSpPr>
          <p:nvPr/>
        </p:nvSpPr>
        <p:spPr bwMode="auto">
          <a:xfrm>
            <a:off x="1150938" y="4014788"/>
            <a:ext cx="0" cy="53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79" name="Line 9"/>
          <p:cNvSpPr>
            <a:spLocks noChangeShapeType="1"/>
          </p:cNvSpPr>
          <p:nvPr/>
        </p:nvSpPr>
        <p:spPr bwMode="auto">
          <a:xfrm>
            <a:off x="1601788" y="4014788"/>
            <a:ext cx="0" cy="53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80" name="Line 10"/>
          <p:cNvSpPr>
            <a:spLocks noChangeShapeType="1"/>
          </p:cNvSpPr>
          <p:nvPr/>
        </p:nvSpPr>
        <p:spPr bwMode="auto">
          <a:xfrm>
            <a:off x="2771775" y="4014788"/>
            <a:ext cx="0" cy="53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81" name="Line 12"/>
          <p:cNvSpPr>
            <a:spLocks noChangeShapeType="1"/>
          </p:cNvSpPr>
          <p:nvPr/>
        </p:nvSpPr>
        <p:spPr bwMode="auto">
          <a:xfrm>
            <a:off x="3132138" y="4014788"/>
            <a:ext cx="0" cy="53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82" name="Text Box 13"/>
          <p:cNvSpPr txBox="1">
            <a:spLocks noChangeArrowheads="1"/>
          </p:cNvSpPr>
          <p:nvPr/>
        </p:nvSpPr>
        <p:spPr bwMode="auto">
          <a:xfrm>
            <a:off x="1962150" y="4014788"/>
            <a:ext cx="450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/>
              <a:t>…</a:t>
            </a:r>
          </a:p>
        </p:txBody>
      </p:sp>
      <p:sp>
        <p:nvSpPr>
          <p:cNvPr id="32783" name="Text Box 14"/>
          <p:cNvSpPr txBox="1">
            <a:spLocks noChangeArrowheads="1"/>
          </p:cNvSpPr>
          <p:nvPr/>
        </p:nvSpPr>
        <p:spPr bwMode="auto">
          <a:xfrm>
            <a:off x="385763" y="4014788"/>
            <a:ext cx="900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/>
              <a:t>s</a:t>
            </a:r>
            <a:r>
              <a:rPr lang="en-US" altLang="zh-CN" sz="2400" baseline="-25000">
                <a:sym typeface="Symbol" panose="05050102010706020507" pitchFamily="18" charset="2"/>
              </a:rPr>
              <a:t> (1)</a:t>
            </a:r>
            <a:endParaRPr lang="en-US" altLang="zh-CN" sz="2400" i="1">
              <a:sym typeface="Symbol" panose="05050102010706020507" pitchFamily="18" charset="2"/>
            </a:endParaRPr>
          </a:p>
        </p:txBody>
      </p:sp>
      <p:sp>
        <p:nvSpPr>
          <p:cNvPr id="32784" name="Text Box 15"/>
          <p:cNvSpPr txBox="1">
            <a:spLocks noChangeArrowheads="1"/>
          </p:cNvSpPr>
          <p:nvPr/>
        </p:nvSpPr>
        <p:spPr bwMode="auto">
          <a:xfrm>
            <a:off x="3267075" y="4014788"/>
            <a:ext cx="900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/>
              <a:t>s</a:t>
            </a:r>
            <a:r>
              <a:rPr lang="en-US" altLang="zh-CN" sz="2400" baseline="-25000">
                <a:sym typeface="Symbol" panose="05050102010706020507" pitchFamily="18" charset="2"/>
              </a:rPr>
              <a:t> (</a:t>
            </a:r>
            <a:r>
              <a:rPr lang="en-US" altLang="zh-CN" sz="2400" i="1" baseline="-25000">
                <a:sym typeface="Symbol" panose="05050102010706020507" pitchFamily="18" charset="2"/>
              </a:rPr>
              <a:t>m</a:t>
            </a:r>
            <a:r>
              <a:rPr lang="en-US" altLang="zh-CN" sz="2400" baseline="-250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32785" name="Text Box 16"/>
          <p:cNvSpPr txBox="1">
            <a:spLocks noChangeArrowheads="1"/>
          </p:cNvSpPr>
          <p:nvPr/>
        </p:nvSpPr>
        <p:spPr bwMode="auto">
          <a:xfrm>
            <a:off x="296863" y="3563938"/>
            <a:ext cx="495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0</a:t>
            </a:r>
          </a:p>
        </p:txBody>
      </p:sp>
      <p:sp>
        <p:nvSpPr>
          <p:cNvPr id="32786" name="Text Box 17"/>
          <p:cNvSpPr txBox="1">
            <a:spLocks noChangeArrowheads="1"/>
          </p:cNvSpPr>
          <p:nvPr/>
        </p:nvSpPr>
        <p:spPr bwMode="auto">
          <a:xfrm>
            <a:off x="657225" y="3563938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Time</a:t>
            </a:r>
          </a:p>
        </p:txBody>
      </p:sp>
      <p:sp>
        <p:nvSpPr>
          <p:cNvPr id="32787" name="Line 18"/>
          <p:cNvSpPr>
            <a:spLocks noChangeShapeType="1"/>
          </p:cNvSpPr>
          <p:nvPr/>
        </p:nvSpPr>
        <p:spPr bwMode="auto">
          <a:xfrm>
            <a:off x="1511300" y="3789363"/>
            <a:ext cx="1711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88" name="Text Box 19"/>
          <p:cNvSpPr txBox="1">
            <a:spLocks noChangeArrowheads="1"/>
          </p:cNvSpPr>
          <p:nvPr/>
        </p:nvSpPr>
        <p:spPr bwMode="auto">
          <a:xfrm>
            <a:off x="3986213" y="3563938"/>
            <a:ext cx="630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/>
              <a:t>C</a:t>
            </a:r>
          </a:p>
        </p:txBody>
      </p:sp>
      <p:sp>
        <p:nvSpPr>
          <p:cNvPr id="32789" name="Rectangle 21"/>
          <p:cNvSpPr>
            <a:spLocks noChangeArrowheads="1"/>
          </p:cNvSpPr>
          <p:nvPr/>
        </p:nvSpPr>
        <p:spPr bwMode="auto">
          <a:xfrm>
            <a:off x="4886325" y="4014788"/>
            <a:ext cx="3779838" cy="5397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2790" name="Rectangle 22" descr="深色上对角线"/>
          <p:cNvSpPr>
            <a:spLocks noChangeArrowheads="1"/>
          </p:cNvSpPr>
          <p:nvPr/>
        </p:nvSpPr>
        <p:spPr bwMode="auto">
          <a:xfrm>
            <a:off x="4616450" y="4014788"/>
            <a:ext cx="269875" cy="539750"/>
          </a:xfrm>
          <a:prstGeom prst="rect">
            <a:avLst/>
          </a:prstGeom>
          <a:pattFill prst="dkUpDiag">
            <a:fgClr>
              <a:srgbClr val="777777"/>
            </a:fgClr>
            <a:bgClr>
              <a:schemeClr val="bg1"/>
            </a:bgClr>
          </a:patt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2791" name="Line 23"/>
          <p:cNvSpPr>
            <a:spLocks noChangeShapeType="1"/>
          </p:cNvSpPr>
          <p:nvPr/>
        </p:nvSpPr>
        <p:spPr bwMode="auto">
          <a:xfrm>
            <a:off x="5921375" y="4014788"/>
            <a:ext cx="0" cy="53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2" name="Line 24"/>
          <p:cNvSpPr>
            <a:spLocks noChangeShapeType="1"/>
          </p:cNvSpPr>
          <p:nvPr/>
        </p:nvSpPr>
        <p:spPr bwMode="auto">
          <a:xfrm>
            <a:off x="7542213" y="4014788"/>
            <a:ext cx="0" cy="53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793" name="Text Box 25"/>
          <p:cNvSpPr txBox="1">
            <a:spLocks noChangeArrowheads="1"/>
          </p:cNvSpPr>
          <p:nvPr/>
        </p:nvSpPr>
        <p:spPr bwMode="auto">
          <a:xfrm>
            <a:off x="6462713" y="3968750"/>
            <a:ext cx="450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/>
              <a:t>…</a:t>
            </a:r>
          </a:p>
        </p:txBody>
      </p:sp>
      <p:sp>
        <p:nvSpPr>
          <p:cNvPr id="32794" name="Text Box 26"/>
          <p:cNvSpPr txBox="1">
            <a:spLocks noChangeArrowheads="1"/>
          </p:cNvSpPr>
          <p:nvPr/>
        </p:nvSpPr>
        <p:spPr bwMode="auto">
          <a:xfrm>
            <a:off x="4932363" y="3968750"/>
            <a:ext cx="1260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/>
              <a:t>s</a:t>
            </a:r>
            <a:r>
              <a:rPr lang="en-US" altLang="zh-CN" sz="2400" baseline="-25000">
                <a:sym typeface="Symbol" panose="05050102010706020507" pitchFamily="18" charset="2"/>
              </a:rPr>
              <a:t> (</a:t>
            </a:r>
            <a:r>
              <a:rPr lang="en-US" altLang="zh-CN" sz="2400" i="1" baseline="-25000">
                <a:sym typeface="Symbol" panose="05050102010706020507" pitchFamily="18" charset="2"/>
              </a:rPr>
              <a:t>m+</a:t>
            </a:r>
            <a:r>
              <a:rPr lang="en-US" altLang="zh-CN" sz="2400" baseline="-25000">
                <a:sym typeface="Symbol" panose="05050102010706020507" pitchFamily="18" charset="2"/>
              </a:rPr>
              <a:t>1)</a:t>
            </a:r>
          </a:p>
        </p:txBody>
      </p:sp>
      <p:sp>
        <p:nvSpPr>
          <p:cNvPr id="32795" name="Text Box 27"/>
          <p:cNvSpPr txBox="1">
            <a:spLocks noChangeArrowheads="1"/>
          </p:cNvSpPr>
          <p:nvPr/>
        </p:nvSpPr>
        <p:spPr bwMode="auto">
          <a:xfrm>
            <a:off x="7812088" y="4014788"/>
            <a:ext cx="900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/>
              <a:t>s</a:t>
            </a:r>
            <a:r>
              <a:rPr lang="en-US" altLang="zh-CN" sz="2400" baseline="-25000">
                <a:sym typeface="Symbol" panose="05050102010706020507" pitchFamily="18" charset="2"/>
              </a:rPr>
              <a:t> (</a:t>
            </a:r>
            <a:r>
              <a:rPr lang="en-US" altLang="zh-CN" sz="2400" i="1" baseline="-25000">
                <a:sym typeface="Symbol" panose="05050102010706020507" pitchFamily="18" charset="2"/>
              </a:rPr>
              <a:t>n</a:t>
            </a:r>
            <a:r>
              <a:rPr lang="en-US" altLang="zh-CN" sz="2400" baseline="-250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32796" name="Text Box 28"/>
          <p:cNvSpPr txBox="1">
            <a:spLocks noChangeArrowheads="1"/>
          </p:cNvSpPr>
          <p:nvPr/>
        </p:nvSpPr>
        <p:spPr bwMode="auto">
          <a:xfrm>
            <a:off x="4437063" y="3563938"/>
            <a:ext cx="630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/>
              <a:t>C</a:t>
            </a:r>
          </a:p>
        </p:txBody>
      </p:sp>
      <p:sp>
        <p:nvSpPr>
          <p:cNvPr id="32797" name="Text Box 29"/>
          <p:cNvSpPr txBox="1">
            <a:spLocks noChangeArrowheads="1"/>
          </p:cNvSpPr>
          <p:nvPr/>
        </p:nvSpPr>
        <p:spPr bwMode="auto">
          <a:xfrm>
            <a:off x="5381625" y="3159125"/>
            <a:ext cx="2070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Penalties</a:t>
            </a:r>
          </a:p>
        </p:txBody>
      </p:sp>
      <p:graphicFrame>
        <p:nvGraphicFramePr>
          <p:cNvPr id="32798" name="Object 3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572000" y="4508500"/>
          <a:ext cx="29718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9" name="公式" r:id="rId7" imgW="1574117" imgH="495085" progId="Equation.3">
                  <p:embed/>
                </p:oleObj>
              </mc:Choice>
              <mc:Fallback>
                <p:oleObj name="公式" r:id="rId7" imgW="1574117" imgH="495085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508500"/>
                        <a:ext cx="297180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9" name="Text Box 36"/>
          <p:cNvSpPr txBox="1">
            <a:spLocks noChangeArrowheads="1"/>
          </p:cNvSpPr>
          <p:nvPr/>
        </p:nvSpPr>
        <p:spPr bwMode="auto">
          <a:xfrm>
            <a:off x="7451725" y="4733925"/>
            <a:ext cx="1169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=</a:t>
            </a:r>
            <a:r>
              <a:rPr lang="en-US" altLang="zh-CN" sz="2400" i="1"/>
              <a:t>S</a:t>
            </a:r>
            <a:r>
              <a:rPr lang="en-US" altLang="zh-CN" sz="2400"/>
              <a:t>-</a:t>
            </a:r>
            <a:r>
              <a:rPr lang="en-US" altLang="zh-CN" sz="2400" i="1"/>
              <a:t>C</a:t>
            </a:r>
            <a:endParaRPr lang="en-US" altLang="zh-CN" sz="2400"/>
          </a:p>
        </p:txBody>
      </p:sp>
      <p:sp>
        <p:nvSpPr>
          <p:cNvPr id="32800" name="Text Box 37"/>
          <p:cNvSpPr txBox="1">
            <a:spLocks noChangeArrowheads="1"/>
          </p:cNvSpPr>
          <p:nvPr/>
        </p:nvSpPr>
        <p:spPr bwMode="auto">
          <a:xfrm>
            <a:off x="701675" y="5768975"/>
            <a:ext cx="7966075" cy="879475"/>
          </a:xfrm>
          <a:prstGeom prst="rect">
            <a:avLst/>
          </a:prstGeom>
          <a:solidFill>
            <a:srgbClr val="CCFFCC"/>
          </a:solidFill>
          <a:ln w="57150" cmpd="thickThin">
            <a:solidFill>
              <a:srgbClr val="99CC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/>
              <a:t>However, the sum of the 2 items must be </a:t>
            </a:r>
            <a:r>
              <a:rPr lang="en-US" altLang="zh-CN" sz="2400" i="1"/>
              <a:t>S</a:t>
            </a:r>
            <a:r>
              <a:rPr lang="en-US" altLang="zh-CN" sz="2400"/>
              <a:t>, so the inequalities must be equalities, so, a </a:t>
            </a:r>
            <a:r>
              <a:rPr lang="en-US" altLang="zh-CN" sz="2400" i="1"/>
              <a:t>yes-</a:t>
            </a:r>
            <a:r>
              <a:rPr lang="en-US" altLang="zh-CN" sz="2400"/>
              <a:t>input for subset sum problem.</a:t>
            </a:r>
          </a:p>
        </p:txBody>
      </p:sp>
      <p:sp>
        <p:nvSpPr>
          <p:cNvPr id="32801" name="Line 38"/>
          <p:cNvSpPr>
            <a:spLocks noChangeShapeType="1"/>
          </p:cNvSpPr>
          <p:nvPr/>
        </p:nvSpPr>
        <p:spPr bwMode="auto">
          <a:xfrm flipH="1" flipV="1">
            <a:off x="1557338" y="5273675"/>
            <a:ext cx="2519362" cy="630238"/>
          </a:xfrm>
          <a:prstGeom prst="line">
            <a:avLst/>
          </a:prstGeom>
          <a:noFill/>
          <a:ln w="9525">
            <a:solidFill>
              <a:srgbClr val="99CC00"/>
            </a:solidFill>
            <a:prstDash val="lg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2802" name="Line 39"/>
          <p:cNvSpPr>
            <a:spLocks noChangeShapeType="1"/>
          </p:cNvSpPr>
          <p:nvPr/>
        </p:nvSpPr>
        <p:spPr bwMode="auto">
          <a:xfrm flipV="1">
            <a:off x="4302125" y="5408613"/>
            <a:ext cx="449263" cy="495300"/>
          </a:xfrm>
          <a:prstGeom prst="line">
            <a:avLst/>
          </a:prstGeom>
          <a:noFill/>
          <a:ln w="9525">
            <a:solidFill>
              <a:srgbClr val="99CC00"/>
            </a:solidFill>
            <a:prstDash val="lg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" name="Text Box 4"/>
          <p:cNvSpPr txBox="1">
            <a:spLocks noChangeArrowheads="1"/>
          </p:cNvSpPr>
          <p:nvPr/>
        </p:nvSpPr>
        <p:spPr bwMode="auto">
          <a:xfrm>
            <a:off x="328613" y="216023"/>
            <a:ext cx="80375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FF33"/>
              </a:buClr>
              <a:buSzPct val="7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CC"/>
              </a:buClr>
              <a:buSzPct val="6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Subset Sum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≤</a:t>
            </a:r>
            <a:r>
              <a:rPr lang="en-US" altLang="zh-CN" sz="2400" baseline="-25000" dirty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solidFill>
                  <a:srgbClr val="FF0000"/>
                </a:solidFill>
              </a:rPr>
              <a:t> Job Scheduling</a:t>
            </a:r>
          </a:p>
        </p:txBody>
      </p:sp>
    </p:spTree>
    <p:extLst>
      <p:ext uri="{BB962C8B-B14F-4D97-AF65-F5344CB8AC3E}">
        <p14:creationId xmlns:p14="http://schemas.microsoft.com/office/powerpoint/2010/main" val="38079986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829F3F-7A52-4809-8728-A47E27F963AE}" type="slidenum">
              <a:rPr lang="zh-CN" altLang="en-US" smtClean="0"/>
              <a:pPr>
                <a:defRPr/>
              </a:pPr>
              <a:t>32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764704"/>
            <a:ext cx="7196280" cy="483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514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9246</TotalTime>
  <Words>1246</Words>
  <Application>Microsoft Macintosh PowerPoint</Application>
  <PresentationFormat>全屏显示(4:3)</PresentationFormat>
  <Paragraphs>184</Paragraphs>
  <Slides>32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39" baseType="lpstr">
      <vt:lpstr>Perpetua</vt:lpstr>
      <vt:lpstr>Times New Roman</vt:lpstr>
      <vt:lpstr>Wingdings</vt:lpstr>
      <vt:lpstr>Wingdings 2</vt:lpstr>
      <vt:lpstr>Equity</vt:lpstr>
      <vt:lpstr>Equation</vt:lpstr>
      <vt:lpstr>公式</vt:lpstr>
      <vt:lpstr>Tutorial 7   NP-Completeness</vt:lpstr>
      <vt:lpstr>Content</vt:lpstr>
      <vt:lpstr>P、NP、NP-Complete</vt:lpstr>
      <vt:lpstr>PowerPoint 演示文稿</vt:lpstr>
      <vt:lpstr>What makes a problem “hard”?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Polynomial Reduction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CNF-SAT to Clique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Subset Sum Problem</vt:lpstr>
      <vt:lpstr>Job Scheduling with Penalties</vt:lpstr>
      <vt:lpstr>Reduction of the Subset Sum Problem</vt:lpstr>
      <vt:lpstr>Reduction of the Subset Sum Problem</vt:lpstr>
      <vt:lpstr>Reduction of the Subset Sum Problem</vt:lpstr>
      <vt:lpstr>PowerPoint 演示文稿</vt:lpstr>
    </vt:vector>
  </TitlesOfParts>
  <Manager/>
  <Company>Nanjing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Algorithm Analysis</dc:title>
  <dc:subject/>
  <dc:creator>Sheng Zhang</dc:creator>
  <cp:keywords/>
  <dc:description/>
  <cp:lastModifiedBy>ShengZhang#NJU#mbpr16</cp:lastModifiedBy>
  <cp:revision>411</cp:revision>
  <cp:lastPrinted>2016-03-03T01:24:57Z</cp:lastPrinted>
  <dcterms:created xsi:type="dcterms:W3CDTF">2001-08-01T06:52:17Z</dcterms:created>
  <dcterms:modified xsi:type="dcterms:W3CDTF">2021-05-18T15:20:47Z</dcterms:modified>
  <cp:category/>
  <cp:contentStatus/>
</cp:coreProperties>
</file>